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334" r:id="rId4"/>
    <p:sldId id="285" r:id="rId5"/>
    <p:sldId id="265" r:id="rId6"/>
    <p:sldId id="275" r:id="rId7"/>
    <p:sldId id="276" r:id="rId8"/>
    <p:sldId id="277" r:id="rId9"/>
    <p:sldId id="328" r:id="rId10"/>
    <p:sldId id="289" r:id="rId11"/>
    <p:sldId id="330" r:id="rId12"/>
    <p:sldId id="312" r:id="rId13"/>
    <p:sldId id="313" r:id="rId14"/>
    <p:sldId id="298" r:id="rId15"/>
    <p:sldId id="299" r:id="rId16"/>
    <p:sldId id="300" r:id="rId17"/>
    <p:sldId id="301" r:id="rId18"/>
    <p:sldId id="291" r:id="rId19"/>
    <p:sldId id="292" r:id="rId20"/>
    <p:sldId id="333" r:id="rId21"/>
    <p:sldId id="293" r:id="rId22"/>
    <p:sldId id="294" r:id="rId23"/>
    <p:sldId id="268" r:id="rId24"/>
    <p:sldId id="316" r:id="rId25"/>
    <p:sldId id="309" r:id="rId26"/>
    <p:sldId id="27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DC2876-37EC-46C2-9682-5C9D9BEECF2A}" v="19" dt="2026-04-19T08:39:47.2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97" autoAdjust="0"/>
    <p:restoredTop sz="95033" autoAdjust="0"/>
  </p:normalViewPr>
  <p:slideViewPr>
    <p:cSldViewPr snapToGrid="0">
      <p:cViewPr varScale="1">
        <p:scale>
          <a:sx n="59" d="100"/>
          <a:sy n="59" d="100"/>
        </p:scale>
        <p:origin x="6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6E7B7-1CAF-4662-95EA-AE9AA8919E8D}"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3C44F-8A8F-493B-BF7E-60D577730A56}" type="slidenum">
              <a:rPr lang="en-IN" smtClean="0"/>
              <a:t>‹#›</a:t>
            </a:fld>
            <a:endParaRPr lang="en-IN"/>
          </a:p>
        </p:txBody>
      </p:sp>
    </p:spTree>
    <p:extLst>
      <p:ext uri="{BB962C8B-B14F-4D97-AF65-F5344CB8AC3E}">
        <p14:creationId xmlns:p14="http://schemas.microsoft.com/office/powerpoint/2010/main" val="2086365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03C44F-8A8F-493B-BF7E-60D577730A56}" type="slidenum">
              <a:rPr lang="en-IN" smtClean="0"/>
              <a:t>5</a:t>
            </a:fld>
            <a:endParaRPr lang="en-IN"/>
          </a:p>
        </p:txBody>
      </p:sp>
    </p:spTree>
    <p:extLst>
      <p:ext uri="{BB962C8B-B14F-4D97-AF65-F5344CB8AC3E}">
        <p14:creationId xmlns:p14="http://schemas.microsoft.com/office/powerpoint/2010/main" val="2140393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D22C-D58D-D762-40F9-4563F4E91C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18870E-55C9-8C98-420B-C0ABB32CCF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8FBEE4-DC83-DB0C-2B8B-FE8AC499EF09}"/>
              </a:ext>
            </a:extLst>
          </p:cNvPr>
          <p:cNvSpPr>
            <a:spLocks noGrp="1"/>
          </p:cNvSpPr>
          <p:nvPr>
            <p:ph type="dt" sz="half" idx="10"/>
          </p:nvPr>
        </p:nvSpPr>
        <p:spPr/>
        <p:txBody>
          <a:bodyPr/>
          <a:lstStyle/>
          <a:p>
            <a:fld id="{CC44EADD-30AE-4CB5-9B07-739824CA92F8}" type="datetime1">
              <a:rPr lang="en-IN" smtClean="0"/>
              <a:t>19-04-2026</a:t>
            </a:fld>
            <a:endParaRPr lang="en-IN"/>
          </a:p>
        </p:txBody>
      </p:sp>
      <p:sp>
        <p:nvSpPr>
          <p:cNvPr id="5" name="Footer Placeholder 4">
            <a:extLst>
              <a:ext uri="{FF2B5EF4-FFF2-40B4-BE49-F238E27FC236}">
                <a16:creationId xmlns:a16="http://schemas.microsoft.com/office/drawing/2014/main" id="{D849EAF6-DF4B-23CA-091F-3DACB2190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D543B6-9473-2EDF-9B0D-D39F1CC6B30D}"/>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385538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B6A8-2684-61DD-FC68-229FBDEE0A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815F72-2D43-A055-9BBE-50ED2937F0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654A3E-85BB-6980-64B9-660DD1FF8971}"/>
              </a:ext>
            </a:extLst>
          </p:cNvPr>
          <p:cNvSpPr>
            <a:spLocks noGrp="1"/>
          </p:cNvSpPr>
          <p:nvPr>
            <p:ph type="dt" sz="half" idx="10"/>
          </p:nvPr>
        </p:nvSpPr>
        <p:spPr/>
        <p:txBody>
          <a:bodyPr/>
          <a:lstStyle/>
          <a:p>
            <a:fld id="{8431AEAB-B39E-4BBC-83BB-A4AC58DAE704}" type="datetime1">
              <a:rPr lang="en-IN" smtClean="0"/>
              <a:t>19-04-2026</a:t>
            </a:fld>
            <a:endParaRPr lang="en-IN"/>
          </a:p>
        </p:txBody>
      </p:sp>
      <p:sp>
        <p:nvSpPr>
          <p:cNvPr id="5" name="Footer Placeholder 4">
            <a:extLst>
              <a:ext uri="{FF2B5EF4-FFF2-40B4-BE49-F238E27FC236}">
                <a16:creationId xmlns:a16="http://schemas.microsoft.com/office/drawing/2014/main" id="{E2FC58E0-D6F0-C26D-7104-6ED6E3531D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6B75C7-2E99-964D-4640-5F540B706FEA}"/>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2282223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F5E9-4A8A-7296-A0D1-4F5E744026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CF8A0B-187B-8161-AFB1-4F3C0DFE9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76961C-3D82-CAB2-1CB9-93E126588232}"/>
              </a:ext>
            </a:extLst>
          </p:cNvPr>
          <p:cNvSpPr>
            <a:spLocks noGrp="1"/>
          </p:cNvSpPr>
          <p:nvPr>
            <p:ph type="dt" sz="half" idx="10"/>
          </p:nvPr>
        </p:nvSpPr>
        <p:spPr/>
        <p:txBody>
          <a:bodyPr/>
          <a:lstStyle/>
          <a:p>
            <a:fld id="{5A69EC3E-BE35-430B-B81B-8DE3C1680903}" type="datetime1">
              <a:rPr lang="en-IN" smtClean="0"/>
              <a:t>19-04-2026</a:t>
            </a:fld>
            <a:endParaRPr lang="en-IN"/>
          </a:p>
        </p:txBody>
      </p:sp>
      <p:sp>
        <p:nvSpPr>
          <p:cNvPr id="5" name="Footer Placeholder 4">
            <a:extLst>
              <a:ext uri="{FF2B5EF4-FFF2-40B4-BE49-F238E27FC236}">
                <a16:creationId xmlns:a16="http://schemas.microsoft.com/office/drawing/2014/main" id="{22D1F5B9-C165-CC6A-0DFE-9C0F906FF8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D8D93D-B317-E501-72A2-E24B655930BF}"/>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126460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5E16E-1B9B-1851-7BD6-6E4CA98181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C52BF4-2248-4159-3C25-29BFE7FDEC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042141-0D0F-3D5C-012A-49711E06C6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B4D70C-9B62-CD77-19B4-4FE6817C1460}"/>
              </a:ext>
            </a:extLst>
          </p:cNvPr>
          <p:cNvSpPr>
            <a:spLocks noGrp="1"/>
          </p:cNvSpPr>
          <p:nvPr>
            <p:ph type="dt" sz="half" idx="10"/>
          </p:nvPr>
        </p:nvSpPr>
        <p:spPr/>
        <p:txBody>
          <a:bodyPr/>
          <a:lstStyle/>
          <a:p>
            <a:fld id="{20348906-6977-4BA2-A7C6-53FF64AF86D7}" type="datetime1">
              <a:rPr lang="en-IN" smtClean="0"/>
              <a:t>19-04-2026</a:t>
            </a:fld>
            <a:endParaRPr lang="en-IN"/>
          </a:p>
        </p:txBody>
      </p:sp>
      <p:sp>
        <p:nvSpPr>
          <p:cNvPr id="6" name="Footer Placeholder 5">
            <a:extLst>
              <a:ext uri="{FF2B5EF4-FFF2-40B4-BE49-F238E27FC236}">
                <a16:creationId xmlns:a16="http://schemas.microsoft.com/office/drawing/2014/main" id="{3DA92942-EA2E-E121-AC39-46C6A39622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CB69E1-BC56-F7AC-4893-8DFBF05640B0}"/>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331784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120E4-2DF5-B5A1-960B-E61750ED2E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9791A4-2857-ABB6-A8B1-906D96BD1F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31561A-3477-6AF8-3DDC-44A9DE5795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305AE0-1A9C-E9F7-712A-5BDBC959C8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851730-E29C-8F7D-45B3-82A77E1556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592008-55DB-B90C-DBF0-B360B1112932}"/>
              </a:ext>
            </a:extLst>
          </p:cNvPr>
          <p:cNvSpPr>
            <a:spLocks noGrp="1"/>
          </p:cNvSpPr>
          <p:nvPr>
            <p:ph type="dt" sz="half" idx="10"/>
          </p:nvPr>
        </p:nvSpPr>
        <p:spPr/>
        <p:txBody>
          <a:bodyPr/>
          <a:lstStyle/>
          <a:p>
            <a:fld id="{D5222FF9-CDF7-420C-A8FD-413E6C46251E}" type="datetime1">
              <a:rPr lang="en-IN" smtClean="0"/>
              <a:t>19-04-2026</a:t>
            </a:fld>
            <a:endParaRPr lang="en-IN"/>
          </a:p>
        </p:txBody>
      </p:sp>
      <p:sp>
        <p:nvSpPr>
          <p:cNvPr id="8" name="Footer Placeholder 7">
            <a:extLst>
              <a:ext uri="{FF2B5EF4-FFF2-40B4-BE49-F238E27FC236}">
                <a16:creationId xmlns:a16="http://schemas.microsoft.com/office/drawing/2014/main" id="{BD077618-4EAD-4E75-9F30-2C240CDD8F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1B1A30-D875-89F7-5059-3F3B6BDAE962}"/>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2403837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50F47-C397-9783-2CB7-5DF4C0D3AB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6F62194-D01F-9557-9A46-0FC0C47CCA9D}"/>
              </a:ext>
            </a:extLst>
          </p:cNvPr>
          <p:cNvSpPr>
            <a:spLocks noGrp="1"/>
          </p:cNvSpPr>
          <p:nvPr>
            <p:ph type="dt" sz="half" idx="10"/>
          </p:nvPr>
        </p:nvSpPr>
        <p:spPr/>
        <p:txBody>
          <a:bodyPr/>
          <a:lstStyle/>
          <a:p>
            <a:fld id="{5BFAB773-4DAA-4A02-82C7-559CC7E1CE0B}" type="datetime1">
              <a:rPr lang="en-IN" smtClean="0"/>
              <a:t>19-04-2026</a:t>
            </a:fld>
            <a:endParaRPr lang="en-IN"/>
          </a:p>
        </p:txBody>
      </p:sp>
      <p:sp>
        <p:nvSpPr>
          <p:cNvPr id="4" name="Footer Placeholder 3">
            <a:extLst>
              <a:ext uri="{FF2B5EF4-FFF2-40B4-BE49-F238E27FC236}">
                <a16:creationId xmlns:a16="http://schemas.microsoft.com/office/drawing/2014/main" id="{148E8806-4E6A-997A-6BFF-2E32F3F857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B2E852-8BBB-7ABF-51EE-681FA3293F3D}"/>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3587059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F70395-E41F-F69E-4AC5-DEFCD429AFD7}"/>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Footer Placeholder 2">
            <a:extLst>
              <a:ext uri="{FF2B5EF4-FFF2-40B4-BE49-F238E27FC236}">
                <a16:creationId xmlns:a16="http://schemas.microsoft.com/office/drawing/2014/main" id="{D504EACC-69AF-5EAD-04A0-98D8372AD3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7707E8-BECD-D71E-8272-82AA6B24A76C}"/>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231655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2542-491E-93CA-A82D-760EBB9B8C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B7B7DA-DE37-039C-24B4-E3BD5ED8B9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04F601-58E9-0A0D-98B3-63CC95B0BB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84007-E7B0-BDCF-7D89-DCC9C5C92449}"/>
              </a:ext>
            </a:extLst>
          </p:cNvPr>
          <p:cNvSpPr>
            <a:spLocks noGrp="1"/>
          </p:cNvSpPr>
          <p:nvPr>
            <p:ph type="dt" sz="half" idx="10"/>
          </p:nvPr>
        </p:nvSpPr>
        <p:spPr/>
        <p:txBody>
          <a:bodyPr/>
          <a:lstStyle/>
          <a:p>
            <a:fld id="{642C511A-BC2A-4A42-996E-409D317C6D32}" type="datetime1">
              <a:rPr lang="en-IN" smtClean="0"/>
              <a:t>19-04-2026</a:t>
            </a:fld>
            <a:endParaRPr lang="en-IN"/>
          </a:p>
        </p:txBody>
      </p:sp>
      <p:sp>
        <p:nvSpPr>
          <p:cNvPr id="6" name="Footer Placeholder 5">
            <a:extLst>
              <a:ext uri="{FF2B5EF4-FFF2-40B4-BE49-F238E27FC236}">
                <a16:creationId xmlns:a16="http://schemas.microsoft.com/office/drawing/2014/main" id="{E76411C3-4B12-0747-F649-DA4B79F707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4E248-A7C6-4FD4-5292-D23C0A019328}"/>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2429429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3E45C-7C1B-E211-40D4-B224D395EF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2D760F-16C8-5828-EA80-A7F856EFAC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74FC21B-D974-C816-5E32-34EE8B397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851D87-A80A-2E9C-0E79-E3813CE6C5A3}"/>
              </a:ext>
            </a:extLst>
          </p:cNvPr>
          <p:cNvSpPr>
            <a:spLocks noGrp="1"/>
          </p:cNvSpPr>
          <p:nvPr>
            <p:ph type="dt" sz="half" idx="10"/>
          </p:nvPr>
        </p:nvSpPr>
        <p:spPr/>
        <p:txBody>
          <a:bodyPr/>
          <a:lstStyle/>
          <a:p>
            <a:fld id="{92DB2F8C-311C-4B7C-B1D0-F8057EEE90F1}" type="datetime1">
              <a:rPr lang="en-IN" smtClean="0"/>
              <a:t>19-04-2026</a:t>
            </a:fld>
            <a:endParaRPr lang="en-IN"/>
          </a:p>
        </p:txBody>
      </p:sp>
      <p:sp>
        <p:nvSpPr>
          <p:cNvPr id="6" name="Footer Placeholder 5">
            <a:extLst>
              <a:ext uri="{FF2B5EF4-FFF2-40B4-BE49-F238E27FC236}">
                <a16:creationId xmlns:a16="http://schemas.microsoft.com/office/drawing/2014/main" id="{BEF026A2-BB3A-39FB-1792-6C22B6B5A8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223B72-CBAC-ECFB-6E45-2D79AD4B56E3}"/>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3912963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39440-C6A1-9900-69C1-A0CD436666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C1D1A2-F40B-A198-2E1F-D9C57F8A0F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2A8DAB-68F8-66F8-BCA9-FB1104C21684}"/>
              </a:ext>
            </a:extLst>
          </p:cNvPr>
          <p:cNvSpPr>
            <a:spLocks noGrp="1"/>
          </p:cNvSpPr>
          <p:nvPr>
            <p:ph type="dt" sz="half" idx="10"/>
          </p:nvPr>
        </p:nvSpPr>
        <p:spPr/>
        <p:txBody>
          <a:bodyPr/>
          <a:lstStyle/>
          <a:p>
            <a:fld id="{3194D7A0-33C5-4246-B9FD-86B583108B11}" type="datetime1">
              <a:rPr lang="en-IN" smtClean="0"/>
              <a:t>19-04-2026</a:t>
            </a:fld>
            <a:endParaRPr lang="en-IN"/>
          </a:p>
        </p:txBody>
      </p:sp>
      <p:sp>
        <p:nvSpPr>
          <p:cNvPr id="5" name="Footer Placeholder 4">
            <a:extLst>
              <a:ext uri="{FF2B5EF4-FFF2-40B4-BE49-F238E27FC236}">
                <a16:creationId xmlns:a16="http://schemas.microsoft.com/office/drawing/2014/main" id="{2630EA3D-5809-5DBF-944D-4916EC24E0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A4EB65-965B-B920-BC39-9444CA90199D}"/>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352591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37EC75-7866-50E9-635B-AF4B205312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EBA575-B8E9-2775-C0AB-5635CA1C0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BBC079-27F9-DFDE-17C0-7B9249A0BEA8}"/>
              </a:ext>
            </a:extLst>
          </p:cNvPr>
          <p:cNvSpPr>
            <a:spLocks noGrp="1"/>
          </p:cNvSpPr>
          <p:nvPr>
            <p:ph type="dt" sz="half" idx="10"/>
          </p:nvPr>
        </p:nvSpPr>
        <p:spPr/>
        <p:txBody>
          <a:bodyPr/>
          <a:lstStyle/>
          <a:p>
            <a:fld id="{91CDDAEE-5459-4FF8-B062-6EC80E50813D}" type="datetime1">
              <a:rPr lang="en-IN" smtClean="0"/>
              <a:t>19-04-2026</a:t>
            </a:fld>
            <a:endParaRPr lang="en-IN"/>
          </a:p>
        </p:txBody>
      </p:sp>
      <p:sp>
        <p:nvSpPr>
          <p:cNvPr id="5" name="Footer Placeholder 4">
            <a:extLst>
              <a:ext uri="{FF2B5EF4-FFF2-40B4-BE49-F238E27FC236}">
                <a16:creationId xmlns:a16="http://schemas.microsoft.com/office/drawing/2014/main" id="{D4546D87-110D-F55D-697C-7EBFD21E2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62C232-31DB-1058-C6D8-0C82E9ED4363}"/>
              </a:ext>
            </a:extLst>
          </p:cNvPr>
          <p:cNvSpPr>
            <a:spLocks noGrp="1"/>
          </p:cNvSpPr>
          <p:nvPr>
            <p:ph type="sldNum" sz="quarter" idx="12"/>
          </p:nvPr>
        </p:nvSpPr>
        <p:spPr/>
        <p:txBody>
          <a:bodyPr/>
          <a:lstStyle/>
          <a:p>
            <a:fld id="{45761432-4179-48B3-B500-A5B0792151BD}" type="slidenum">
              <a:rPr lang="en-IN" smtClean="0"/>
              <a:t>‹#›</a:t>
            </a:fld>
            <a:endParaRPr lang="en-IN"/>
          </a:p>
        </p:txBody>
      </p:sp>
    </p:spTree>
    <p:extLst>
      <p:ext uri="{BB962C8B-B14F-4D97-AF65-F5344CB8AC3E}">
        <p14:creationId xmlns:p14="http://schemas.microsoft.com/office/powerpoint/2010/main" val="361432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F3B77B-2F47-1D6D-DA2F-E30010AE16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CA1170-B113-70E5-545F-454389CC5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B84BA-D743-282D-B9C3-B8BD3AE742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C63F0C-FFE0-43B3-8E4A-1086F45C2276}" type="datetime1">
              <a:rPr lang="en-IN" smtClean="0"/>
              <a:t>19-04-2026</a:t>
            </a:fld>
            <a:endParaRPr lang="en-IN"/>
          </a:p>
        </p:txBody>
      </p:sp>
      <p:sp>
        <p:nvSpPr>
          <p:cNvPr id="5" name="Footer Placeholder 4">
            <a:extLst>
              <a:ext uri="{FF2B5EF4-FFF2-40B4-BE49-F238E27FC236}">
                <a16:creationId xmlns:a16="http://schemas.microsoft.com/office/drawing/2014/main" id="{D921FD59-994E-F8F8-70C8-2F4D76A60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3540D3-C936-C4A1-3D3B-D6984E69DD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761432-4179-48B3-B500-A5B0792151BD}" type="slidenum">
              <a:rPr lang="en-IN" smtClean="0"/>
              <a:t>‹#›</a:t>
            </a:fld>
            <a:endParaRPr lang="en-IN"/>
          </a:p>
        </p:txBody>
      </p:sp>
    </p:spTree>
    <p:extLst>
      <p:ext uri="{BB962C8B-B14F-4D97-AF65-F5344CB8AC3E}">
        <p14:creationId xmlns:p14="http://schemas.microsoft.com/office/powerpoint/2010/main" val="2588663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C454A-C11E-59A2-24F8-608D693C48F3}"/>
              </a:ext>
            </a:extLst>
          </p:cNvPr>
          <p:cNvSpPr txBox="1"/>
          <p:nvPr/>
        </p:nvSpPr>
        <p:spPr>
          <a:xfrm>
            <a:off x="226142" y="127819"/>
            <a:ext cx="11779045" cy="1569660"/>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                                   </a:t>
            </a:r>
          </a:p>
          <a:p>
            <a:pPr algn="just"/>
            <a:r>
              <a:rPr lang="en-US" sz="2800" b="1" dirty="0">
                <a:latin typeface="Times New Roman" panose="02020603050405020304" pitchFamily="18" charset="0"/>
                <a:cs typeface="Times New Roman" panose="02020603050405020304" pitchFamily="18" charset="0"/>
              </a:rPr>
              <a:t>                                   </a:t>
            </a:r>
          </a:p>
          <a:p>
            <a:pPr algn="just"/>
            <a:r>
              <a:rPr lang="en-US" sz="28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 </a:t>
            </a:r>
            <a:endParaRPr lang="en-IN" sz="4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D42080C-C6CD-B774-7FC7-7B0EC8D06BC2}"/>
              </a:ext>
            </a:extLst>
          </p:cNvPr>
          <p:cNvSpPr txBox="1"/>
          <p:nvPr/>
        </p:nvSpPr>
        <p:spPr>
          <a:xfrm>
            <a:off x="226142" y="1927123"/>
            <a:ext cx="11779045" cy="4739759"/>
          </a:xfrm>
          <a:prstGeom prst="rect">
            <a:avLst/>
          </a:prstGeom>
          <a:noFill/>
        </p:spPr>
        <p:txBody>
          <a:bodyPr wrap="square" rtlCol="0">
            <a:spAutoFit/>
          </a:bodyPr>
          <a:lstStyle/>
          <a:p>
            <a:endParaRPr lang="en-IN" dirty="0"/>
          </a:p>
          <a:p>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DOMAIN : MEDICAL IMAGE PROCESSING</a:t>
            </a:r>
          </a:p>
          <a:p>
            <a:pPr algn="ctr"/>
            <a:r>
              <a:rPr lang="en-IN" sz="44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Lung Cancer Detection With Deep Learning</a:t>
            </a:r>
          </a:p>
          <a:p>
            <a:pPr algn="ctr"/>
            <a:r>
              <a:rPr lang="en-IN" sz="3200" b="1" dirty="0">
                <a:latin typeface="Times New Roman" panose="02020603050405020304" pitchFamily="18" charset="0"/>
                <a:cs typeface="Times New Roman" panose="02020603050405020304" pitchFamily="18" charset="0"/>
              </a:rPr>
              <a:t>    Using CT Scan Images</a:t>
            </a:r>
          </a:p>
          <a:p>
            <a:endParaRPr lang="en-IN" sz="4000" b="1" dirty="0">
              <a:latin typeface="Times New Roman" panose="02020603050405020304" pitchFamily="18" charset="0"/>
              <a:cs typeface="Times New Roman" panose="02020603050405020304" pitchFamily="18" charset="0"/>
            </a:endParaRPr>
          </a:p>
          <a:p>
            <a:r>
              <a:rPr lang="en-IN" sz="2000" b="1" dirty="0">
                <a:solidFill>
                  <a:srgbClr val="C00000"/>
                </a:solidFill>
                <a:latin typeface="Times New Roman" panose="02020603050405020304" pitchFamily="18" charset="0"/>
                <a:cs typeface="Times New Roman" panose="02020603050405020304" pitchFamily="18" charset="0"/>
              </a:rPr>
              <a:t> </a:t>
            </a:r>
            <a:r>
              <a:rPr lang="en-IN" sz="2000" b="1" u="sng" dirty="0">
                <a:solidFill>
                  <a:srgbClr val="C00000"/>
                </a:solidFill>
                <a:latin typeface="Times New Roman" panose="02020603050405020304" pitchFamily="18" charset="0"/>
                <a:cs typeface="Times New Roman" panose="02020603050405020304" pitchFamily="18" charset="0"/>
              </a:rPr>
              <a:t>Team Members</a:t>
            </a:r>
            <a:r>
              <a:rPr lang="en-IN" sz="2000" b="1" dirty="0">
                <a:solidFill>
                  <a:srgbClr val="C00000"/>
                </a:solidFill>
                <a:latin typeface="Times New Roman" panose="02020603050405020304" pitchFamily="18" charset="0"/>
                <a:cs typeface="Times New Roman" panose="02020603050405020304" pitchFamily="18" charset="0"/>
              </a:rPr>
              <a:t>                                                                                   </a:t>
            </a:r>
            <a:r>
              <a:rPr lang="en-IN" sz="2000" b="1" u="sng" dirty="0">
                <a:solidFill>
                  <a:srgbClr val="C00000"/>
                </a:solidFill>
                <a:latin typeface="Times New Roman" panose="02020603050405020304" pitchFamily="18" charset="0"/>
                <a:cs typeface="Times New Roman" panose="02020603050405020304" pitchFamily="18" charset="0"/>
              </a:rPr>
              <a:t>Under the Guidance of</a:t>
            </a:r>
            <a:r>
              <a:rPr lang="en-IN" sz="2000" b="1" dirty="0">
                <a:solidFill>
                  <a:srgbClr val="C00000"/>
                </a:solidFill>
                <a:latin typeface="Times New Roman" panose="02020603050405020304" pitchFamily="18" charset="0"/>
                <a:cs typeface="Times New Roman" panose="02020603050405020304" pitchFamily="18" charset="0"/>
              </a:rPr>
              <a:t>                                                                                                                             </a:t>
            </a:r>
          </a:p>
          <a:p>
            <a:pPr marL="457200" indent="-457200">
              <a:buFontTx/>
              <a:buAutoNum type="arabicPeriod"/>
            </a:pPr>
            <a:r>
              <a:rPr lang="en-IN" dirty="0">
                <a:latin typeface="Times New Roman" panose="02020603050405020304" pitchFamily="18" charset="0"/>
                <a:cs typeface="Times New Roman" panose="02020603050405020304" pitchFamily="18" charset="0"/>
              </a:rPr>
              <a:t>K.N.SUDHEER SAI  		– 226M1A0442                                </a:t>
            </a:r>
            <a:r>
              <a:rPr lang="en-US" b="1" dirty="0">
                <a:effectLst/>
                <a:latin typeface="Times New Roman" panose="02020603050405020304" pitchFamily="18" charset="0"/>
                <a:ea typeface="Times New Roman" panose="02020603050405020304" pitchFamily="18" charset="0"/>
              </a:rPr>
              <a:t>Mr. N P U V S N PAVAN </a:t>
            </a:r>
            <a:r>
              <a:rPr lang="en-US" b="1" dirty="0" err="1">
                <a:effectLst/>
                <a:latin typeface="Times New Roman" panose="02020603050405020304" pitchFamily="18" charset="0"/>
                <a:ea typeface="Times New Roman" panose="02020603050405020304" pitchFamily="18" charset="0"/>
              </a:rPr>
              <a:t>KUMAR,</a:t>
            </a:r>
            <a:r>
              <a:rPr lang="en-US" sz="1100" b="1" dirty="0" err="1">
                <a:effectLst/>
                <a:latin typeface="Times New Roman" panose="02020603050405020304" pitchFamily="18" charset="0"/>
                <a:ea typeface="Times New Roman" panose="02020603050405020304" pitchFamily="18" charset="0"/>
              </a:rPr>
              <a:t>M.Tech</a:t>
            </a:r>
            <a:r>
              <a:rPr lang="en-US" sz="1100" b="1" dirty="0">
                <a:effectLst/>
                <a:latin typeface="Times New Roman" panose="02020603050405020304" pitchFamily="18" charset="0"/>
                <a:ea typeface="Times New Roman" panose="02020603050405020304" pitchFamily="18" charset="0"/>
              </a:rPr>
              <a:t> </a:t>
            </a:r>
            <a:endParaRPr lang="en-IN" b="1" baseline="-25000" dirty="0">
              <a:latin typeface="Times New Roman" panose="02020603050405020304" pitchFamily="18" charset="0"/>
              <a:cs typeface="Times New Roman" panose="02020603050405020304" pitchFamily="18" charset="0"/>
            </a:endParaRPr>
          </a:p>
          <a:p>
            <a:pPr marL="457200" indent="-457200">
              <a:buAutoNum type="arabicPeriod"/>
            </a:pPr>
            <a:r>
              <a:rPr lang="en-IN" dirty="0">
                <a:latin typeface="Times New Roman" panose="02020603050405020304" pitchFamily="18" charset="0"/>
                <a:cs typeface="Times New Roman" panose="02020603050405020304" pitchFamily="18" charset="0"/>
              </a:rPr>
              <a:t>D.PRAVALLIKA                            – 226M1A0419                                ASSISTANT PROFESSOR</a:t>
            </a:r>
          </a:p>
          <a:p>
            <a:pPr marL="457200" indent="-457200">
              <a:buFontTx/>
              <a:buAutoNum type="arabicPeriod"/>
            </a:pPr>
            <a:r>
              <a:rPr lang="en-IN" dirty="0">
                <a:latin typeface="Times New Roman" panose="02020603050405020304" pitchFamily="18" charset="0"/>
                <a:cs typeface="Times New Roman" panose="02020603050405020304" pitchFamily="18" charset="0"/>
              </a:rPr>
              <a:t>D.T.V.V.ROHITH KUMAR           – 226M1A0420                                DEPARTMENT OF ECE</a:t>
            </a:r>
          </a:p>
          <a:p>
            <a:pPr marL="457200" indent="-457200">
              <a:buAutoNum type="arabicPeriod"/>
            </a:pPr>
            <a:r>
              <a:rPr lang="en-IN" dirty="0">
                <a:latin typeface="Times New Roman" panose="02020603050405020304" pitchFamily="18" charset="0"/>
                <a:cs typeface="Times New Roman" panose="02020603050405020304" pitchFamily="18" charset="0"/>
              </a:rPr>
              <a:t>M.SAI KUMAR                             – 226M1A0445</a:t>
            </a:r>
          </a:p>
          <a:p>
            <a:pPr marL="457200" indent="-457200">
              <a:buAutoNum type="arabicPeriod"/>
            </a:pPr>
            <a:r>
              <a:rPr lang="en-IN" dirty="0">
                <a:latin typeface="Times New Roman" panose="02020603050405020304" pitchFamily="18" charset="0"/>
                <a:cs typeface="Times New Roman" panose="02020603050405020304" pitchFamily="18" charset="0"/>
              </a:rPr>
              <a:t>K.SIVA SAI                                    – 226M1A0437</a:t>
            </a:r>
          </a:p>
          <a:p>
            <a:r>
              <a:rPr lang="en-IN" sz="4000" b="1" dirty="0">
                <a:latin typeface="Times New Roman" panose="02020603050405020304" pitchFamily="18" charset="0"/>
                <a:cs typeface="Times New Roman" panose="02020603050405020304" pitchFamily="18" charset="0"/>
              </a:rPr>
              <a:t>             </a:t>
            </a:r>
          </a:p>
        </p:txBody>
      </p:sp>
      <p:sp>
        <p:nvSpPr>
          <p:cNvPr id="6" name="Slide Number Placeholder 5">
            <a:extLst>
              <a:ext uri="{FF2B5EF4-FFF2-40B4-BE49-F238E27FC236}">
                <a16:creationId xmlns:a16="http://schemas.microsoft.com/office/drawing/2014/main" id="{A51F4A91-2DAA-EC36-7299-57BFFB7FAF19}"/>
              </a:ext>
            </a:extLst>
          </p:cNvPr>
          <p:cNvSpPr>
            <a:spLocks noGrp="1"/>
          </p:cNvSpPr>
          <p:nvPr>
            <p:ph type="sldNum" sz="quarter" idx="12"/>
          </p:nvPr>
        </p:nvSpPr>
        <p:spPr/>
        <p:txBody>
          <a:bodyPr/>
          <a:lstStyle/>
          <a:p>
            <a:fld id="{45761432-4179-48B3-B500-A5B0792151BD}" type="slidenum">
              <a:rPr lang="en-IN" smtClean="0"/>
              <a:t>1</a:t>
            </a:fld>
            <a:endParaRPr lang="en-IN"/>
          </a:p>
        </p:txBody>
      </p:sp>
      <p:pic>
        <p:nvPicPr>
          <p:cNvPr id="7" name="Picture 6">
            <a:extLst>
              <a:ext uri="{FF2B5EF4-FFF2-40B4-BE49-F238E27FC236}">
                <a16:creationId xmlns:a16="http://schemas.microsoft.com/office/drawing/2014/main" id="{44418217-5607-58A2-BDEA-42EEE7E44DB6}"/>
              </a:ext>
            </a:extLst>
          </p:cNvPr>
          <p:cNvPicPr>
            <a:picLocks noChangeAspect="1"/>
          </p:cNvPicPr>
          <p:nvPr/>
        </p:nvPicPr>
        <p:blipFill>
          <a:blip r:embed="rId2"/>
          <a:srcRect/>
          <a:stretch>
            <a:fillRect/>
          </a:stretch>
        </p:blipFill>
        <p:spPr bwMode="auto">
          <a:xfrm>
            <a:off x="0" y="0"/>
            <a:ext cx="12191999" cy="1369605"/>
          </a:xfrm>
          <a:prstGeom prst="rect">
            <a:avLst/>
          </a:prstGeom>
          <a:noFill/>
          <a:ln w="9525">
            <a:noFill/>
            <a:miter lim="800000"/>
            <a:headEnd/>
            <a:tailEnd/>
          </a:ln>
        </p:spPr>
      </p:pic>
      <p:sp>
        <p:nvSpPr>
          <p:cNvPr id="8" name="TextBox 7">
            <a:extLst>
              <a:ext uri="{FF2B5EF4-FFF2-40B4-BE49-F238E27FC236}">
                <a16:creationId xmlns:a16="http://schemas.microsoft.com/office/drawing/2014/main" id="{2BD894E3-1A88-64B2-8D02-30EBF0EC525A}"/>
              </a:ext>
            </a:extLst>
          </p:cNvPr>
          <p:cNvSpPr txBox="1"/>
          <p:nvPr/>
        </p:nvSpPr>
        <p:spPr>
          <a:xfrm>
            <a:off x="838200" y="1448309"/>
            <a:ext cx="10644116" cy="400110"/>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           DEPARTMENT OF ELECTRONICS AND COMMUNICATION ENGINEERING</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3613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BF4536-3C4C-0296-F637-6D3ADE4A19AD}"/>
              </a:ext>
            </a:extLst>
          </p:cNvPr>
          <p:cNvSpPr txBox="1"/>
          <p:nvPr/>
        </p:nvSpPr>
        <p:spPr>
          <a:xfrm>
            <a:off x="324465" y="0"/>
            <a:ext cx="10790575" cy="6869638"/>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CONTENTS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ABSTRACT					</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OBJECTIVE                    			</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LITERATURE SURVEY                		</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EXISTING SYSTEM                        	</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PROPOSED SYSTEM 	</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IMPLEMENTATION</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MODEL DESCRIPTION</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ARCHITECTURE</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OUTPUT</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CONCLUSION</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FUTURE SCOPE</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WORK FLOW</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REFERENCES</a:t>
            </a:r>
          </a:p>
          <a:p>
            <a:pPr marL="457200" indent="-457200">
              <a:lnSpc>
                <a:spcPct val="150000"/>
              </a:lnSpc>
              <a:buFont typeface="+mj-lt"/>
              <a:buAutoNum type="arabicPeriod"/>
            </a:pP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3F51095-1103-D8E7-5F0C-A9DBF11CF25F}"/>
              </a:ext>
            </a:extLst>
          </p:cNvPr>
          <p:cNvSpPr>
            <a:spLocks noGrp="1"/>
          </p:cNvSpPr>
          <p:nvPr>
            <p:ph type="sldNum" sz="quarter" idx="12"/>
          </p:nvPr>
        </p:nvSpPr>
        <p:spPr/>
        <p:txBody>
          <a:bodyPr/>
          <a:lstStyle/>
          <a:p>
            <a:fld id="{45761432-4179-48B3-B500-A5B0792151BD}" type="slidenum">
              <a:rPr lang="en-IN" smtClean="0"/>
              <a:t>2</a:t>
            </a:fld>
            <a:endParaRPr lang="en-IN"/>
          </a:p>
        </p:txBody>
      </p:sp>
    </p:spTree>
    <p:extLst>
      <p:ext uri="{BB962C8B-B14F-4D97-AF65-F5344CB8AC3E}">
        <p14:creationId xmlns:p14="http://schemas.microsoft.com/office/powerpoint/2010/main" val="823286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055C0D-BA50-9D61-FE33-2DF43E2F5DF1}"/>
              </a:ext>
            </a:extLst>
          </p:cNvPr>
          <p:cNvSpPr>
            <a:spLocks noGrp="1"/>
          </p:cNvSpPr>
          <p:nvPr>
            <p:ph type="sldNum" sz="quarter" idx="12"/>
          </p:nvPr>
        </p:nvSpPr>
        <p:spPr/>
        <p:txBody>
          <a:bodyPr/>
          <a:lstStyle/>
          <a:p>
            <a:fld id="{45761432-4179-48B3-B500-A5B0792151BD}" type="slidenum">
              <a:rPr lang="en-IN" smtClean="0"/>
              <a:t>3</a:t>
            </a:fld>
            <a:endParaRPr lang="en-IN"/>
          </a:p>
        </p:txBody>
      </p:sp>
      <p:sp>
        <p:nvSpPr>
          <p:cNvPr id="4" name="TextBox 3">
            <a:extLst>
              <a:ext uri="{FF2B5EF4-FFF2-40B4-BE49-F238E27FC236}">
                <a16:creationId xmlns:a16="http://schemas.microsoft.com/office/drawing/2014/main" id="{F586B42D-6EDC-5326-59A9-A46B69099F6E}"/>
              </a:ext>
            </a:extLst>
          </p:cNvPr>
          <p:cNvSpPr txBox="1"/>
          <p:nvPr/>
        </p:nvSpPr>
        <p:spPr>
          <a:xfrm>
            <a:off x="518160" y="284480"/>
            <a:ext cx="1119632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1. </a:t>
            </a:r>
            <a:r>
              <a:rPr lang="en-US" sz="2400" b="1" u="sng"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1F3EE014-074C-9A6E-6E15-F0BB1E55541E}"/>
              </a:ext>
            </a:extLst>
          </p:cNvPr>
          <p:cNvSpPr txBox="1"/>
          <p:nvPr/>
        </p:nvSpPr>
        <p:spPr>
          <a:xfrm>
            <a:off x="1290320" y="1273701"/>
            <a:ext cx="9794239" cy="4555093"/>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project focuses on lung cancer detection using deep learning on CT scan images. Lung cancer is one of the leading causes of death worldwide, and early detection is essential to improve survival rates.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dataset consists of CT scan images categorized into four classes: Adenocarcinoma, Large Cell Carcinoma, Squamous Cell Carcinoma, and Normal. These images are preprocessed and classified using deep learning models such as ResNet-50, ResNet-101, </a:t>
            </a:r>
            <a:r>
              <a:rPr lang="en-US" sz="2000" dirty="0" err="1">
                <a:latin typeface="Times New Roman" panose="02020603050405020304" pitchFamily="18" charset="0"/>
                <a:cs typeface="Times New Roman" panose="02020603050405020304" pitchFamily="18" charset="0"/>
              </a:rPr>
              <a:t>GoogLeNet</a:t>
            </a:r>
            <a:r>
              <a:rPr lang="en-US" sz="2000" dirty="0">
                <a:latin typeface="Times New Roman" panose="02020603050405020304" pitchFamily="18" charset="0"/>
                <a:cs typeface="Times New Roman" panose="02020603050405020304" pitchFamily="18" charset="0"/>
              </a:rPr>
              <a:t>, and EfficientNet-B0.</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performance of the models is evaluated using accuracy and ROC curves. Among all models, </a:t>
            </a:r>
            <a:r>
              <a:rPr lang="en-US" sz="2000" dirty="0" err="1">
                <a:latin typeface="Times New Roman" panose="02020603050405020304" pitchFamily="18" charset="0"/>
                <a:cs typeface="Times New Roman" panose="02020603050405020304" pitchFamily="18" charset="0"/>
              </a:rPr>
              <a:t>GoogLeNet</a:t>
            </a:r>
            <a:r>
              <a:rPr lang="en-US" sz="2000" dirty="0">
                <a:latin typeface="Times New Roman" panose="02020603050405020304" pitchFamily="18" charset="0"/>
                <a:cs typeface="Times New Roman" panose="02020603050405020304" pitchFamily="18" charset="0"/>
              </a:rPr>
              <a:t> achieved the best accuracy of 91.75%.</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57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1BDD77-722D-3B52-591D-319F01A2FD7C}"/>
              </a:ext>
            </a:extLst>
          </p:cNvPr>
          <p:cNvSpPr>
            <a:spLocks noGrp="1"/>
          </p:cNvSpPr>
          <p:nvPr>
            <p:ph type="sldNum" sz="quarter" idx="12"/>
          </p:nvPr>
        </p:nvSpPr>
        <p:spPr/>
        <p:txBody>
          <a:bodyPr/>
          <a:lstStyle/>
          <a:p>
            <a:fld id="{45761432-4179-48B3-B500-A5B0792151BD}" type="slidenum">
              <a:rPr lang="en-IN" smtClean="0"/>
              <a:t>4</a:t>
            </a:fld>
            <a:endParaRPr lang="en-IN"/>
          </a:p>
        </p:txBody>
      </p:sp>
      <p:sp>
        <p:nvSpPr>
          <p:cNvPr id="4" name="TextBox 3">
            <a:extLst>
              <a:ext uri="{FF2B5EF4-FFF2-40B4-BE49-F238E27FC236}">
                <a16:creationId xmlns:a16="http://schemas.microsoft.com/office/drawing/2014/main" id="{09209FC0-EE67-EFE8-A14D-0B6947F93EDA}"/>
              </a:ext>
            </a:extLst>
          </p:cNvPr>
          <p:cNvSpPr txBox="1"/>
          <p:nvPr/>
        </p:nvSpPr>
        <p:spPr>
          <a:xfrm>
            <a:off x="650241" y="1693862"/>
            <a:ext cx="4450079" cy="3970318"/>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develop an accurate deep learning-based system for detecting and classifying lung cancer using CT scan images.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classifies images into the following categories: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Adenocarcinoma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Large Cell Carcinoma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Squamous Cell Carcinoma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Normal </a:t>
            </a:r>
            <a:r>
              <a:rPr lang="en-US" sz="2000" b="1" dirty="0">
                <a:latin typeface="Times New Roman" panose="02020603050405020304" pitchFamily="18" charset="0"/>
                <a:cs typeface="Times New Roman" panose="02020603050405020304" pitchFamily="18" charset="0"/>
              </a:rPr>
              <a:t>                                                                              </a:t>
            </a:r>
          </a:p>
          <a:p>
            <a:pPr marL="571500" indent="-571500">
              <a:buFont typeface="Wingdings" panose="05000000000000000000" pitchFamily="2" charset="2"/>
              <a:buChar char="Ø"/>
            </a:pPr>
            <a:endParaRPr lang="en-US" sz="2800" b="1" u="sng"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b="1" u="sng"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5315618-9437-9D33-46E0-631EFC83E621}"/>
              </a:ext>
            </a:extLst>
          </p:cNvPr>
          <p:cNvPicPr>
            <a:picLocks noChangeAspect="1"/>
          </p:cNvPicPr>
          <p:nvPr/>
        </p:nvPicPr>
        <p:blipFill>
          <a:blip r:embed="rId2"/>
          <a:stretch>
            <a:fillRect/>
          </a:stretch>
        </p:blipFill>
        <p:spPr>
          <a:xfrm>
            <a:off x="5976303" y="1693862"/>
            <a:ext cx="5377497" cy="3470275"/>
          </a:xfrm>
          <a:prstGeom prst="rect">
            <a:avLst/>
          </a:prstGeom>
        </p:spPr>
      </p:pic>
      <p:sp>
        <p:nvSpPr>
          <p:cNvPr id="5" name="TextBox 4">
            <a:extLst>
              <a:ext uri="{FF2B5EF4-FFF2-40B4-BE49-F238E27FC236}">
                <a16:creationId xmlns:a16="http://schemas.microsoft.com/office/drawing/2014/main" id="{97F28B77-BA0A-8F21-F30E-709DFB365B0C}"/>
              </a:ext>
            </a:extLst>
          </p:cNvPr>
          <p:cNvSpPr txBox="1"/>
          <p:nvPr/>
        </p:nvSpPr>
        <p:spPr>
          <a:xfrm>
            <a:off x="6968740" y="5384070"/>
            <a:ext cx="3283719" cy="369332"/>
          </a:xfrm>
          <a:prstGeom prst="rect">
            <a:avLst/>
          </a:prstGeom>
          <a:noFill/>
        </p:spPr>
        <p:txBody>
          <a:bodyPr wrap="none" rtlCol="0">
            <a:spAutoFit/>
          </a:bodyPr>
          <a:lstStyle/>
          <a:p>
            <a:r>
              <a:rPr lang="en-US" dirty="0"/>
              <a:t>Fig1: Classification of lung cancer</a:t>
            </a:r>
          </a:p>
        </p:txBody>
      </p:sp>
      <p:sp>
        <p:nvSpPr>
          <p:cNvPr id="6" name="TextBox 5">
            <a:extLst>
              <a:ext uri="{FF2B5EF4-FFF2-40B4-BE49-F238E27FC236}">
                <a16:creationId xmlns:a16="http://schemas.microsoft.com/office/drawing/2014/main" id="{30EC60D3-98B2-D2A3-3852-A60FBDEEC48B}"/>
              </a:ext>
            </a:extLst>
          </p:cNvPr>
          <p:cNvSpPr txBox="1"/>
          <p:nvPr/>
        </p:nvSpPr>
        <p:spPr>
          <a:xfrm>
            <a:off x="4897120" y="690880"/>
            <a:ext cx="227177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2. </a:t>
            </a:r>
            <a:r>
              <a:rPr lang="en-US" sz="2400" b="1" u="sng" dirty="0">
                <a:latin typeface="Times New Roman" panose="02020603050405020304" pitchFamily="18" charset="0"/>
                <a:cs typeface="Times New Roman" panose="02020603050405020304" pitchFamily="18" charset="0"/>
              </a:rPr>
              <a:t>OBJECTIVE</a:t>
            </a:r>
            <a:endParaRPr lang="en-US" sz="2400" dirty="0"/>
          </a:p>
        </p:txBody>
      </p:sp>
    </p:spTree>
    <p:extLst>
      <p:ext uri="{BB962C8B-B14F-4D97-AF65-F5344CB8AC3E}">
        <p14:creationId xmlns:p14="http://schemas.microsoft.com/office/powerpoint/2010/main" val="4190641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700EC1-E274-87BD-8634-0536C1A3321E}"/>
              </a:ext>
            </a:extLst>
          </p:cNvPr>
          <p:cNvSpPr txBox="1"/>
          <p:nvPr/>
        </p:nvSpPr>
        <p:spPr>
          <a:xfrm>
            <a:off x="383458" y="10886"/>
            <a:ext cx="11425083" cy="1446550"/>
          </a:xfrm>
          <a:prstGeom prst="rect">
            <a:avLst/>
          </a:prstGeom>
          <a:noFill/>
        </p:spPr>
        <p:txBody>
          <a:bodyPr wrap="square" rtlCol="0">
            <a:spAutoFit/>
          </a:bodyPr>
          <a:lstStyle/>
          <a:p>
            <a:r>
              <a:rPr lang="en-US" sz="4000" b="1" dirty="0">
                <a:solidFill>
                  <a:srgbClr val="FF0000"/>
                </a:solidFill>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3. </a:t>
            </a:r>
            <a:r>
              <a:rPr lang="en-US" sz="2400" b="1" u="sng" dirty="0">
                <a:latin typeface="Times New Roman" panose="02020603050405020304" pitchFamily="18" charset="0"/>
                <a:cs typeface="Times New Roman" panose="02020603050405020304" pitchFamily="18" charset="0"/>
              </a:rPr>
              <a:t>LITERATURE SURVEY</a:t>
            </a:r>
          </a:p>
          <a:p>
            <a:endParaRPr lang="en-US" sz="2400" b="1" u="sng" dirty="0">
              <a:latin typeface="Times New Roman" panose="02020603050405020304" pitchFamily="18" charset="0"/>
              <a:cs typeface="Times New Roman" panose="02020603050405020304" pitchFamily="18" charset="0"/>
            </a:endParaRPr>
          </a:p>
          <a:p>
            <a:endParaRPr lang="en-US" sz="2400" b="1" u="sng"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A83236F-5B34-86DD-FD04-B20FD0B3F3B8}"/>
              </a:ext>
            </a:extLst>
          </p:cNvPr>
          <p:cNvSpPr>
            <a:spLocks noGrp="1"/>
          </p:cNvSpPr>
          <p:nvPr>
            <p:ph type="sldNum" sz="quarter" idx="12"/>
          </p:nvPr>
        </p:nvSpPr>
        <p:spPr/>
        <p:txBody>
          <a:bodyPr/>
          <a:lstStyle/>
          <a:p>
            <a:fld id="{45761432-4179-48B3-B500-A5B0792151BD}" type="slidenum">
              <a:rPr lang="en-IN" smtClean="0"/>
              <a:t>5</a:t>
            </a:fld>
            <a:endParaRPr lang="en-IN"/>
          </a:p>
        </p:txBody>
      </p:sp>
      <p:graphicFrame>
        <p:nvGraphicFramePr>
          <p:cNvPr id="7" name="Table 6">
            <a:extLst>
              <a:ext uri="{FF2B5EF4-FFF2-40B4-BE49-F238E27FC236}">
                <a16:creationId xmlns:a16="http://schemas.microsoft.com/office/drawing/2014/main" id="{22D08D03-42E9-8DC3-1D96-D98EED2F305B}"/>
              </a:ext>
            </a:extLst>
          </p:cNvPr>
          <p:cNvGraphicFramePr>
            <a:graphicFrameLocks noGrp="1"/>
          </p:cNvGraphicFramePr>
          <p:nvPr>
            <p:extLst>
              <p:ext uri="{D42A27DB-BD31-4B8C-83A1-F6EECF244321}">
                <p14:modId xmlns:p14="http://schemas.microsoft.com/office/powerpoint/2010/main" val="1821487163"/>
              </p:ext>
            </p:extLst>
          </p:nvPr>
        </p:nvGraphicFramePr>
        <p:xfrm>
          <a:off x="139149" y="933840"/>
          <a:ext cx="11913699" cy="5542519"/>
        </p:xfrm>
        <a:graphic>
          <a:graphicData uri="http://schemas.openxmlformats.org/drawingml/2006/table">
            <a:tbl>
              <a:tblPr>
                <a:tableStyleId>{08FB837D-C827-4EFA-A057-4D05807E0F7C}</a:tableStyleId>
              </a:tblPr>
              <a:tblGrid>
                <a:gridCol w="1701957">
                  <a:extLst>
                    <a:ext uri="{9D8B030D-6E8A-4147-A177-3AD203B41FA5}">
                      <a16:colId xmlns:a16="http://schemas.microsoft.com/office/drawing/2014/main" val="552945309"/>
                    </a:ext>
                  </a:extLst>
                </a:gridCol>
                <a:gridCol w="1074814">
                  <a:extLst>
                    <a:ext uri="{9D8B030D-6E8A-4147-A177-3AD203B41FA5}">
                      <a16:colId xmlns:a16="http://schemas.microsoft.com/office/drawing/2014/main" val="3067292853"/>
                    </a:ext>
                  </a:extLst>
                </a:gridCol>
                <a:gridCol w="2329100">
                  <a:extLst>
                    <a:ext uri="{9D8B030D-6E8A-4147-A177-3AD203B41FA5}">
                      <a16:colId xmlns:a16="http://schemas.microsoft.com/office/drawing/2014/main" val="2166812786"/>
                    </a:ext>
                  </a:extLst>
                </a:gridCol>
                <a:gridCol w="1701957">
                  <a:extLst>
                    <a:ext uri="{9D8B030D-6E8A-4147-A177-3AD203B41FA5}">
                      <a16:colId xmlns:a16="http://schemas.microsoft.com/office/drawing/2014/main" val="998066624"/>
                    </a:ext>
                  </a:extLst>
                </a:gridCol>
                <a:gridCol w="1495983">
                  <a:extLst>
                    <a:ext uri="{9D8B030D-6E8A-4147-A177-3AD203B41FA5}">
                      <a16:colId xmlns:a16="http://schemas.microsoft.com/office/drawing/2014/main" val="656257407"/>
                    </a:ext>
                  </a:extLst>
                </a:gridCol>
                <a:gridCol w="1907931">
                  <a:extLst>
                    <a:ext uri="{9D8B030D-6E8A-4147-A177-3AD203B41FA5}">
                      <a16:colId xmlns:a16="http://schemas.microsoft.com/office/drawing/2014/main" val="214286177"/>
                    </a:ext>
                  </a:extLst>
                </a:gridCol>
                <a:gridCol w="1701957">
                  <a:extLst>
                    <a:ext uri="{9D8B030D-6E8A-4147-A177-3AD203B41FA5}">
                      <a16:colId xmlns:a16="http://schemas.microsoft.com/office/drawing/2014/main" val="961364284"/>
                    </a:ext>
                  </a:extLst>
                </a:gridCol>
              </a:tblGrid>
              <a:tr h="667782">
                <a:tc>
                  <a:txBody>
                    <a:bodyPr/>
                    <a:lstStyle/>
                    <a:p>
                      <a:r>
                        <a:rPr lang="en-IN" sz="2000" b="1" baseline="0" dirty="0">
                          <a:latin typeface="Times New Roman" panose="02020603050405020304" pitchFamily="18" charset="0"/>
                        </a:rPr>
                        <a:t>AUTHOR</a:t>
                      </a:r>
                      <a:endParaRPr lang="en-IN" sz="2000" baseline="0" dirty="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YEAR</a:t>
                      </a:r>
                      <a:endParaRPr lang="en-IN" sz="2000" baseline="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TITLE</a:t>
                      </a:r>
                      <a:endParaRPr lang="en-IN" sz="2000" baseline="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MODALITY</a:t>
                      </a:r>
                      <a:endParaRPr lang="en-IN" sz="2000" baseline="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DATASET</a:t>
                      </a:r>
                      <a:endParaRPr lang="en-IN" sz="2000" baseline="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ALGORITHM</a:t>
                      </a:r>
                      <a:endParaRPr lang="en-IN" sz="2000" baseline="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FINDINGS</a:t>
                      </a:r>
                      <a:endParaRPr lang="en-IN" sz="2000" baseline="0">
                        <a:latin typeface="Times New Roman" panose="02020603050405020304" pitchFamily="18" charset="0"/>
                      </a:endParaRP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807836"/>
                  </a:ext>
                </a:extLst>
              </a:tr>
              <a:tr h="964340">
                <a:tc>
                  <a:txBody>
                    <a:bodyPr/>
                    <a:lstStyle/>
                    <a:p>
                      <a:r>
                        <a:rPr lang="en-IN" sz="2000" baseline="0" dirty="0">
                          <a:latin typeface="Times New Roman" panose="02020603050405020304" pitchFamily="18" charset="0"/>
                        </a:rPr>
                        <a:t>Ardila et 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2019</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End-to-End Lung Cancer Detection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CT Scan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NLST</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3D CNN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High accuracy in prediction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529663"/>
                  </a:ext>
                </a:extLst>
              </a:tr>
              <a:tr h="964340">
                <a:tc>
                  <a:txBody>
                    <a:bodyPr/>
                    <a:lstStyle/>
                    <a:p>
                      <a:r>
                        <a:rPr lang="en-IN" sz="2000" baseline="0">
                          <a:latin typeface="Times New Roman" panose="02020603050405020304" pitchFamily="18" charset="0"/>
                        </a:rPr>
                        <a:t>Setio et 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2016</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Pulmonary Nodule Detection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CT Scan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LUNA16</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CNN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Improved nodule detection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761440"/>
                  </a:ext>
                </a:extLst>
              </a:tr>
              <a:tr h="667782">
                <a:tc>
                  <a:txBody>
                    <a:bodyPr/>
                    <a:lstStyle/>
                    <a:p>
                      <a:r>
                        <a:rPr lang="en-IN" sz="2000" baseline="0">
                          <a:latin typeface="Times New Roman" panose="02020603050405020304" pitchFamily="18" charset="0"/>
                        </a:rPr>
                        <a:t>Shen et 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2015</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Multi-scale CNN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CT Scan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LIDC-IDRI</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CNN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High sensitivity</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8106192"/>
                  </a:ext>
                </a:extLst>
              </a:tr>
              <a:tr h="964340">
                <a:tc>
                  <a:txBody>
                    <a:bodyPr/>
                    <a:lstStyle/>
                    <a:p>
                      <a:r>
                        <a:rPr lang="en-IN" sz="2000" baseline="0">
                          <a:latin typeface="Times New Roman" panose="02020603050405020304" pitchFamily="18" charset="0"/>
                        </a:rPr>
                        <a:t>Hussein et 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2017</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Lung Cancer Risk Prediction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CT Scan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LIDC</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Deep CNN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Better classification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5242986"/>
                  </a:ext>
                </a:extLst>
              </a:tr>
              <a:tr h="1260897">
                <a:tc>
                  <a:txBody>
                    <a:bodyPr/>
                    <a:lstStyle/>
                    <a:p>
                      <a:r>
                        <a:rPr lang="en-IN" sz="2000" b="0" baseline="0">
                          <a:latin typeface="Times New Roman" panose="02020603050405020304" pitchFamily="18" charset="0"/>
                        </a:rPr>
                        <a:t>Mohammad et 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0" baseline="0" dirty="0">
                          <a:latin typeface="Times New Roman" panose="02020603050405020304" pitchFamily="18" charset="0"/>
                        </a:rPr>
                        <a:t>2020</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aseline="0" dirty="0">
                          <a:latin typeface="Times New Roman" panose="02020603050405020304" pitchFamily="18" charset="0"/>
                        </a:rPr>
                        <a:t>Lung Cancer Detection using Deep Learning</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CT Scan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Kaggle</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CNN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aseline="0" dirty="0">
                          <a:latin typeface="Times New Roman" panose="02020603050405020304" pitchFamily="18" charset="0"/>
                        </a:rPr>
                        <a:t>Achieved high accuracy in classification</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933584"/>
                  </a:ext>
                </a:extLst>
              </a:tr>
            </a:tbl>
          </a:graphicData>
        </a:graphic>
      </p:graphicFrame>
    </p:spTree>
    <p:extLst>
      <p:ext uri="{BB962C8B-B14F-4D97-AF65-F5344CB8AC3E}">
        <p14:creationId xmlns:p14="http://schemas.microsoft.com/office/powerpoint/2010/main" val="2474533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EC17D0-4967-903E-F0C0-F0E410269FBF}"/>
              </a:ext>
            </a:extLst>
          </p:cNvPr>
          <p:cNvSpPr>
            <a:spLocks noGrp="1"/>
          </p:cNvSpPr>
          <p:nvPr>
            <p:ph type="sldNum" sz="quarter" idx="12"/>
          </p:nvPr>
        </p:nvSpPr>
        <p:spPr/>
        <p:txBody>
          <a:bodyPr/>
          <a:lstStyle/>
          <a:p>
            <a:fld id="{45761432-4179-48B3-B500-A5B0792151BD}" type="slidenum">
              <a:rPr lang="en-IN" smtClean="0"/>
              <a:t>6</a:t>
            </a:fld>
            <a:endParaRPr lang="en-IN"/>
          </a:p>
        </p:txBody>
      </p:sp>
      <p:graphicFrame>
        <p:nvGraphicFramePr>
          <p:cNvPr id="5" name="Table 4">
            <a:extLst>
              <a:ext uri="{FF2B5EF4-FFF2-40B4-BE49-F238E27FC236}">
                <a16:creationId xmlns:a16="http://schemas.microsoft.com/office/drawing/2014/main" id="{46E23984-AFA8-3F55-7A62-A08043DCE6BC}"/>
              </a:ext>
            </a:extLst>
          </p:cNvPr>
          <p:cNvGraphicFramePr>
            <a:graphicFrameLocks noGrp="1"/>
          </p:cNvGraphicFramePr>
          <p:nvPr>
            <p:extLst>
              <p:ext uri="{D42A27DB-BD31-4B8C-83A1-F6EECF244321}">
                <p14:modId xmlns:p14="http://schemas.microsoft.com/office/powerpoint/2010/main" val="1185533981"/>
              </p:ext>
            </p:extLst>
          </p:nvPr>
        </p:nvGraphicFramePr>
        <p:xfrm>
          <a:off x="231914" y="410657"/>
          <a:ext cx="11728171" cy="6036686"/>
        </p:xfrm>
        <a:graphic>
          <a:graphicData uri="http://schemas.openxmlformats.org/drawingml/2006/table">
            <a:tbl>
              <a:tblPr>
                <a:tableStyleId>{08FB837D-C827-4EFA-A057-4D05807E0F7C}</a:tableStyleId>
              </a:tblPr>
              <a:tblGrid>
                <a:gridCol w="1675453">
                  <a:extLst>
                    <a:ext uri="{9D8B030D-6E8A-4147-A177-3AD203B41FA5}">
                      <a16:colId xmlns:a16="http://schemas.microsoft.com/office/drawing/2014/main" val="1502725978"/>
                    </a:ext>
                  </a:extLst>
                </a:gridCol>
                <a:gridCol w="1675453">
                  <a:extLst>
                    <a:ext uri="{9D8B030D-6E8A-4147-A177-3AD203B41FA5}">
                      <a16:colId xmlns:a16="http://schemas.microsoft.com/office/drawing/2014/main" val="709235883"/>
                    </a:ext>
                  </a:extLst>
                </a:gridCol>
                <a:gridCol w="1675453">
                  <a:extLst>
                    <a:ext uri="{9D8B030D-6E8A-4147-A177-3AD203B41FA5}">
                      <a16:colId xmlns:a16="http://schemas.microsoft.com/office/drawing/2014/main" val="679296064"/>
                    </a:ext>
                  </a:extLst>
                </a:gridCol>
                <a:gridCol w="1675453">
                  <a:extLst>
                    <a:ext uri="{9D8B030D-6E8A-4147-A177-3AD203B41FA5}">
                      <a16:colId xmlns:a16="http://schemas.microsoft.com/office/drawing/2014/main" val="3036710042"/>
                    </a:ext>
                  </a:extLst>
                </a:gridCol>
                <a:gridCol w="1675453">
                  <a:extLst>
                    <a:ext uri="{9D8B030D-6E8A-4147-A177-3AD203B41FA5}">
                      <a16:colId xmlns:a16="http://schemas.microsoft.com/office/drawing/2014/main" val="4012823867"/>
                    </a:ext>
                  </a:extLst>
                </a:gridCol>
                <a:gridCol w="1675453">
                  <a:extLst>
                    <a:ext uri="{9D8B030D-6E8A-4147-A177-3AD203B41FA5}">
                      <a16:colId xmlns:a16="http://schemas.microsoft.com/office/drawing/2014/main" val="2891137721"/>
                    </a:ext>
                  </a:extLst>
                </a:gridCol>
                <a:gridCol w="1675453">
                  <a:extLst>
                    <a:ext uri="{9D8B030D-6E8A-4147-A177-3AD203B41FA5}">
                      <a16:colId xmlns:a16="http://schemas.microsoft.com/office/drawing/2014/main" val="3175482072"/>
                    </a:ext>
                  </a:extLst>
                </a:gridCol>
              </a:tblGrid>
              <a:tr h="680590">
                <a:tc>
                  <a:txBody>
                    <a:bodyPr/>
                    <a:lstStyle/>
                    <a:p>
                      <a:r>
                        <a:rPr lang="en-IN" sz="2000" b="1" baseline="0">
                          <a:latin typeface="Times New Roman" panose="02020603050405020304" pitchFamily="18" charset="0"/>
                        </a:rPr>
                        <a:t>AUTHOR</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YEAR</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TITLE</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MODALITY</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DATASET</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ALGORITHM</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1" baseline="0">
                          <a:latin typeface="Times New Roman" panose="02020603050405020304" pitchFamily="18" charset="0"/>
                        </a:rPr>
                        <a:t>FINDINGS</a:t>
                      </a:r>
                      <a:endParaRPr lang="en-IN" sz="2000" baseline="0">
                        <a:latin typeface="Times New Roman" panose="02020603050405020304" pitchFamily="18" charset="0"/>
                      </a:endParaRP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4095"/>
                  </a:ext>
                </a:extLst>
              </a:tr>
              <a:tr h="979426">
                <a:tc>
                  <a:txBody>
                    <a:bodyPr/>
                    <a:lstStyle/>
                    <a:p>
                      <a:r>
                        <a:rPr lang="en-IN" sz="2000" baseline="0">
                          <a:latin typeface="Times New Roman" panose="02020603050405020304" pitchFamily="18" charset="0"/>
                        </a:rPr>
                        <a:t>He et 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2016</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Deep Residual Learning</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ResNet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Solved vanishing gradient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51386"/>
                  </a:ext>
                </a:extLst>
              </a:tr>
              <a:tr h="979426">
                <a:tc>
                  <a:txBody>
                    <a:bodyPr/>
                    <a:lstStyle/>
                    <a:p>
                      <a:r>
                        <a:rPr lang="en-IN" sz="2000" baseline="0">
                          <a:latin typeface="Times New Roman" panose="02020603050405020304" pitchFamily="18" charset="0"/>
                        </a:rPr>
                        <a:t>Szegedy et 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2016</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Inception Model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GoogLeNet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Better feature extraction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1601139"/>
                  </a:ext>
                </a:extLst>
              </a:tr>
              <a:tr h="680590">
                <a:tc>
                  <a:txBody>
                    <a:bodyPr/>
                    <a:lstStyle/>
                    <a:p>
                      <a:r>
                        <a:rPr lang="en-IN" sz="2000" baseline="0">
                          <a:latin typeface="Times New Roman" panose="02020603050405020304" pitchFamily="18" charset="0"/>
                        </a:rPr>
                        <a:t>Tan &amp; Le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2019</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EfficientNet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EfficientNet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High efficiency</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829365"/>
                  </a:ext>
                </a:extLst>
              </a:tr>
              <a:tr h="979426">
                <a:tc>
                  <a:txBody>
                    <a:bodyPr/>
                    <a:lstStyle/>
                    <a:p>
                      <a:r>
                        <a:rPr lang="en-IN" sz="2000" baseline="0">
                          <a:latin typeface="Times New Roman" panose="02020603050405020304" pitchFamily="18" charset="0"/>
                        </a:rPr>
                        <a:t>Ronneberger et 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2015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U-Net Segmentation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Medical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Biomedical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U-Net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Accurate segmentation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9974773"/>
                  </a:ext>
                </a:extLst>
              </a:tr>
              <a:tr h="680590">
                <a:tc>
                  <a:txBody>
                    <a:bodyPr/>
                    <a:lstStyle/>
                    <a:p>
                      <a:r>
                        <a:rPr lang="en-IN" sz="2000" baseline="0">
                          <a:latin typeface="Times New Roman" panose="02020603050405020304" pitchFamily="18" charset="0"/>
                        </a:rPr>
                        <a:t>Selvaraju et 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2017</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Grad-CAM</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ImageNet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Grad-CAM</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Visual explanation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4766"/>
                  </a:ext>
                </a:extLst>
              </a:tr>
              <a:tr h="979426">
                <a:tc>
                  <a:txBody>
                    <a:bodyPr/>
                    <a:lstStyle/>
                    <a:p>
                      <a:r>
                        <a:rPr lang="en-IN" sz="2000" baseline="0">
                          <a:latin typeface="Times New Roman" panose="02020603050405020304" pitchFamily="18" charset="0"/>
                        </a:rPr>
                        <a:t>Zhao et al.</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2021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Lung Cancer Detection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Medical Dataset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a:latin typeface="Times New Roman" panose="02020603050405020304" pitchFamily="18" charset="0"/>
                        </a:rPr>
                        <a:t>CNN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baseline="0" dirty="0">
                          <a:latin typeface="Times New Roman" panose="02020603050405020304" pitchFamily="18" charset="0"/>
                        </a:rPr>
                        <a:t>High accuracy</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8937671"/>
                  </a:ext>
                </a:extLst>
              </a:tr>
            </a:tbl>
          </a:graphicData>
        </a:graphic>
      </p:graphicFrame>
    </p:spTree>
    <p:extLst>
      <p:ext uri="{BB962C8B-B14F-4D97-AF65-F5344CB8AC3E}">
        <p14:creationId xmlns:p14="http://schemas.microsoft.com/office/powerpoint/2010/main" val="3160278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557FEC0-B51F-8122-94D5-FC422DE2E4BD}"/>
              </a:ext>
            </a:extLst>
          </p:cNvPr>
          <p:cNvSpPr>
            <a:spLocks noGrp="1"/>
          </p:cNvSpPr>
          <p:nvPr>
            <p:ph type="dt" sz="half" idx="10"/>
          </p:nvPr>
        </p:nvSpPr>
        <p:spPr/>
        <p:txBody>
          <a:bodyPr/>
          <a:lstStyle/>
          <a:p>
            <a:fld id="{D6DE411D-65AA-47E4-8942-5A9FF30BAF9D}" type="datetime1">
              <a:rPr lang="en-IN" smtClean="0"/>
              <a:t>19-04-2026</a:t>
            </a:fld>
            <a:endParaRPr lang="en-IN"/>
          </a:p>
        </p:txBody>
      </p:sp>
      <p:sp>
        <p:nvSpPr>
          <p:cNvPr id="4" name="Slide Number Placeholder 3">
            <a:extLst>
              <a:ext uri="{FF2B5EF4-FFF2-40B4-BE49-F238E27FC236}">
                <a16:creationId xmlns:a16="http://schemas.microsoft.com/office/drawing/2014/main" id="{7545244E-0721-3CCA-DDEE-008179D2B7B1}"/>
              </a:ext>
            </a:extLst>
          </p:cNvPr>
          <p:cNvSpPr>
            <a:spLocks noGrp="1"/>
          </p:cNvSpPr>
          <p:nvPr>
            <p:ph type="sldNum" sz="quarter" idx="12"/>
          </p:nvPr>
        </p:nvSpPr>
        <p:spPr/>
        <p:txBody>
          <a:bodyPr/>
          <a:lstStyle/>
          <a:p>
            <a:fld id="{45761432-4179-48B3-B500-A5B0792151BD}" type="slidenum">
              <a:rPr lang="en-IN" smtClean="0"/>
              <a:t>7</a:t>
            </a:fld>
            <a:endParaRPr lang="en-IN" dirty="0"/>
          </a:p>
        </p:txBody>
      </p:sp>
      <p:sp>
        <p:nvSpPr>
          <p:cNvPr id="7" name="TextBox 6">
            <a:extLst>
              <a:ext uri="{FF2B5EF4-FFF2-40B4-BE49-F238E27FC236}">
                <a16:creationId xmlns:a16="http://schemas.microsoft.com/office/drawing/2014/main" id="{734F2BA1-CB7F-12A2-440A-3CF815FAD67C}"/>
              </a:ext>
            </a:extLst>
          </p:cNvPr>
          <p:cNvSpPr txBox="1"/>
          <p:nvPr/>
        </p:nvSpPr>
        <p:spPr>
          <a:xfrm>
            <a:off x="3890176" y="519608"/>
            <a:ext cx="67056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 </a:t>
            </a:r>
            <a:r>
              <a:rPr lang="en-US" sz="2400" b="1" u="sng" dirty="0">
                <a:latin typeface="Times New Roman" panose="02020603050405020304" pitchFamily="18" charset="0"/>
                <a:cs typeface="Times New Roman" panose="02020603050405020304" pitchFamily="18" charset="0"/>
              </a:rPr>
              <a:t>EXISTING SYSTEM</a:t>
            </a:r>
            <a:endParaRPr lang="en-IN" sz="2400" b="1" u="sng" dirty="0">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B6AB8064-EF66-5DB5-1AF5-F9E215A9F644}"/>
              </a:ext>
            </a:extLst>
          </p:cNvPr>
          <p:cNvSpPr>
            <a:spLocks noChangeArrowheads="1"/>
          </p:cNvSpPr>
          <p:nvPr/>
        </p:nvSpPr>
        <p:spPr bwMode="auto">
          <a:xfrm>
            <a:off x="1513114" y="1410269"/>
            <a:ext cx="8084649" cy="2622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 learning approach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the entire CT image is processed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Rely on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CNN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classification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Segmentation is either absent or not integrated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the pipeline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Follow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partial pipeline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mainly focused on classification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clinical trust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predictions are not interpretable </a:t>
            </a:r>
          </a:p>
        </p:txBody>
      </p:sp>
    </p:spTree>
    <p:extLst>
      <p:ext uri="{BB962C8B-B14F-4D97-AF65-F5344CB8AC3E}">
        <p14:creationId xmlns:p14="http://schemas.microsoft.com/office/powerpoint/2010/main" val="4145934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6BD171-F9F5-F207-F188-FF66AE1DF5FC}"/>
              </a:ext>
            </a:extLst>
          </p:cNvPr>
          <p:cNvSpPr>
            <a:spLocks noGrp="1"/>
          </p:cNvSpPr>
          <p:nvPr>
            <p:ph type="sldNum" sz="quarter" idx="12"/>
          </p:nvPr>
        </p:nvSpPr>
        <p:spPr/>
        <p:txBody>
          <a:bodyPr/>
          <a:lstStyle/>
          <a:p>
            <a:fld id="{45761432-4179-48B3-B500-A5B0792151BD}" type="slidenum">
              <a:rPr lang="en-IN" smtClean="0"/>
              <a:t>8</a:t>
            </a:fld>
            <a:endParaRPr lang="en-IN"/>
          </a:p>
        </p:txBody>
      </p:sp>
      <p:sp>
        <p:nvSpPr>
          <p:cNvPr id="9" name="TextBox 8">
            <a:extLst>
              <a:ext uri="{FF2B5EF4-FFF2-40B4-BE49-F238E27FC236}">
                <a16:creationId xmlns:a16="http://schemas.microsoft.com/office/drawing/2014/main" id="{B21385CB-17C5-2DED-9F7D-742A23F5D06D}"/>
              </a:ext>
            </a:extLst>
          </p:cNvPr>
          <p:cNvSpPr txBox="1"/>
          <p:nvPr/>
        </p:nvSpPr>
        <p:spPr>
          <a:xfrm>
            <a:off x="3379304" y="302720"/>
            <a:ext cx="543339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5. </a:t>
            </a:r>
            <a:r>
              <a:rPr lang="en-US" sz="2400" b="1" u="sng" dirty="0">
                <a:latin typeface="Times New Roman" panose="02020603050405020304" pitchFamily="18" charset="0"/>
                <a:cs typeface="Times New Roman" panose="02020603050405020304" pitchFamily="18" charset="0"/>
              </a:rPr>
              <a:t>PROPOSED SYSTEM</a:t>
            </a:r>
            <a:endParaRPr lang="en-IN" sz="2400" b="1" u="sng"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ADCC5B84-60C3-9F5A-9A8C-245623AFBF2A}"/>
              </a:ext>
            </a:extLst>
          </p:cNvPr>
          <p:cNvSpPr/>
          <p:nvPr/>
        </p:nvSpPr>
        <p:spPr>
          <a:xfrm>
            <a:off x="8573729" y="723836"/>
            <a:ext cx="1809136" cy="857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Image preprocessing</a:t>
            </a:r>
            <a:endParaRPr lang="en-IN" dirty="0"/>
          </a:p>
        </p:txBody>
      </p:sp>
      <p:sp>
        <p:nvSpPr>
          <p:cNvPr id="5" name="Rectangle 4">
            <a:extLst>
              <a:ext uri="{FF2B5EF4-FFF2-40B4-BE49-F238E27FC236}">
                <a16:creationId xmlns:a16="http://schemas.microsoft.com/office/drawing/2014/main" id="{280FA3E7-2B6D-6BF6-E243-DCFE6F735D80}"/>
              </a:ext>
            </a:extLst>
          </p:cNvPr>
          <p:cNvSpPr/>
          <p:nvPr/>
        </p:nvSpPr>
        <p:spPr>
          <a:xfrm>
            <a:off x="8571827" y="1846720"/>
            <a:ext cx="1809136" cy="857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CNN model(Feature Extraction)</a:t>
            </a:r>
            <a:endParaRPr lang="en-IN" dirty="0"/>
          </a:p>
        </p:txBody>
      </p:sp>
      <p:sp>
        <p:nvSpPr>
          <p:cNvPr id="6" name="Rectangle 5">
            <a:extLst>
              <a:ext uri="{FF2B5EF4-FFF2-40B4-BE49-F238E27FC236}">
                <a16:creationId xmlns:a16="http://schemas.microsoft.com/office/drawing/2014/main" id="{408A1356-8599-34C0-FCBB-05AB4B664031}"/>
              </a:ext>
            </a:extLst>
          </p:cNvPr>
          <p:cNvSpPr/>
          <p:nvPr/>
        </p:nvSpPr>
        <p:spPr>
          <a:xfrm>
            <a:off x="8567379" y="3022741"/>
            <a:ext cx="1809136" cy="857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Segmentation</a:t>
            </a:r>
            <a:br>
              <a:rPr lang="en-US" dirty="0"/>
            </a:br>
            <a:r>
              <a:rPr lang="en-US" dirty="0"/>
              <a:t>(U-Net)</a:t>
            </a:r>
            <a:endParaRPr lang="en-IN" dirty="0"/>
          </a:p>
        </p:txBody>
      </p:sp>
      <p:sp>
        <p:nvSpPr>
          <p:cNvPr id="7" name="Rectangle 6">
            <a:extLst>
              <a:ext uri="{FF2B5EF4-FFF2-40B4-BE49-F238E27FC236}">
                <a16:creationId xmlns:a16="http://schemas.microsoft.com/office/drawing/2014/main" id="{5DD59FFA-08D5-8C6F-9BFE-8C0C22B71377}"/>
              </a:ext>
            </a:extLst>
          </p:cNvPr>
          <p:cNvSpPr/>
          <p:nvPr/>
        </p:nvSpPr>
        <p:spPr>
          <a:xfrm>
            <a:off x="8548329" y="4214874"/>
            <a:ext cx="1809136" cy="857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Grad cam</a:t>
            </a:r>
            <a:endParaRPr lang="en-IN" dirty="0"/>
          </a:p>
        </p:txBody>
      </p:sp>
      <p:cxnSp>
        <p:nvCxnSpPr>
          <p:cNvPr id="10" name="Connector: Elbow 9">
            <a:extLst>
              <a:ext uri="{FF2B5EF4-FFF2-40B4-BE49-F238E27FC236}">
                <a16:creationId xmlns:a16="http://schemas.microsoft.com/office/drawing/2014/main" id="{274A9500-A8D3-6DC4-D2B9-710925F0DA05}"/>
              </a:ext>
            </a:extLst>
          </p:cNvPr>
          <p:cNvCxnSpPr>
            <a:cxnSpLocks/>
            <a:endCxn id="2" idx="0"/>
          </p:cNvCxnSpPr>
          <p:nvPr/>
        </p:nvCxnSpPr>
        <p:spPr>
          <a:xfrm rot="16200000" flipH="1">
            <a:off x="9355302" y="600840"/>
            <a:ext cx="239641" cy="63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1BA83D1B-03FF-A8FC-1B00-2A6407877BC6}"/>
              </a:ext>
            </a:extLst>
          </p:cNvPr>
          <p:cNvCxnSpPr>
            <a:cxnSpLocks/>
            <a:stCxn id="2" idx="2"/>
            <a:endCxn id="5" idx="0"/>
          </p:cNvCxnSpPr>
          <p:nvPr/>
        </p:nvCxnSpPr>
        <p:spPr>
          <a:xfrm rot="5400000">
            <a:off x="9344596" y="1713018"/>
            <a:ext cx="265501" cy="19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48E0DA3A-449F-E665-4F96-BFB5682CB026}"/>
              </a:ext>
            </a:extLst>
          </p:cNvPr>
          <p:cNvCxnSpPr>
            <a:cxnSpLocks/>
            <a:stCxn id="5" idx="2"/>
            <a:endCxn id="6" idx="0"/>
          </p:cNvCxnSpPr>
          <p:nvPr/>
        </p:nvCxnSpPr>
        <p:spPr>
          <a:xfrm rot="5400000">
            <a:off x="9314852" y="2861198"/>
            <a:ext cx="318638" cy="44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9481F4B2-3E55-9C6F-BF8E-F49C5D5D4A63}"/>
              </a:ext>
            </a:extLst>
          </p:cNvPr>
          <p:cNvCxnSpPr>
            <a:cxnSpLocks/>
            <a:stCxn id="6" idx="2"/>
            <a:endCxn id="7" idx="0"/>
          </p:cNvCxnSpPr>
          <p:nvPr/>
        </p:nvCxnSpPr>
        <p:spPr>
          <a:xfrm rot="5400000">
            <a:off x="9295047" y="4037974"/>
            <a:ext cx="334750" cy="190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9893908-46A4-CB06-19EF-88DF3472F309}"/>
              </a:ext>
            </a:extLst>
          </p:cNvPr>
          <p:cNvSpPr txBox="1"/>
          <p:nvPr/>
        </p:nvSpPr>
        <p:spPr>
          <a:xfrm>
            <a:off x="8920480" y="142240"/>
            <a:ext cx="1312860" cy="369332"/>
          </a:xfrm>
          <a:prstGeom prst="rect">
            <a:avLst/>
          </a:prstGeom>
          <a:noFill/>
        </p:spPr>
        <p:txBody>
          <a:bodyPr wrap="none" rtlCol="0">
            <a:spAutoFit/>
          </a:bodyPr>
          <a:lstStyle/>
          <a:p>
            <a:r>
              <a:rPr lang="en-US" dirty="0"/>
              <a:t>Input Image</a:t>
            </a:r>
          </a:p>
        </p:txBody>
      </p:sp>
      <p:sp>
        <p:nvSpPr>
          <p:cNvPr id="17" name="Rectangle 16">
            <a:extLst>
              <a:ext uri="{FF2B5EF4-FFF2-40B4-BE49-F238E27FC236}">
                <a16:creationId xmlns:a16="http://schemas.microsoft.com/office/drawing/2014/main" id="{724EFCC2-1706-7E18-1901-765C5AA997BD}"/>
              </a:ext>
            </a:extLst>
          </p:cNvPr>
          <p:cNvSpPr/>
          <p:nvPr/>
        </p:nvSpPr>
        <p:spPr>
          <a:xfrm>
            <a:off x="8573729" y="5431514"/>
            <a:ext cx="1809136" cy="857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 output</a:t>
            </a:r>
            <a:endParaRPr lang="en-IN" dirty="0"/>
          </a:p>
        </p:txBody>
      </p:sp>
      <p:cxnSp>
        <p:nvCxnSpPr>
          <p:cNvPr id="25" name="Connector: Elbow 24">
            <a:extLst>
              <a:ext uri="{FF2B5EF4-FFF2-40B4-BE49-F238E27FC236}">
                <a16:creationId xmlns:a16="http://schemas.microsoft.com/office/drawing/2014/main" id="{B3074FBB-757C-02DB-8E28-23A57F3BA94E}"/>
              </a:ext>
            </a:extLst>
          </p:cNvPr>
          <p:cNvCxnSpPr>
            <a:cxnSpLocks/>
          </p:cNvCxnSpPr>
          <p:nvPr/>
        </p:nvCxnSpPr>
        <p:spPr>
          <a:xfrm rot="5400000">
            <a:off x="9203168" y="5240029"/>
            <a:ext cx="334750" cy="190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C8A732B-6454-30CE-8721-6DDD9D3068A4}"/>
              </a:ext>
            </a:extLst>
          </p:cNvPr>
          <p:cNvSpPr txBox="1"/>
          <p:nvPr/>
        </p:nvSpPr>
        <p:spPr>
          <a:xfrm>
            <a:off x="7077759" y="6346428"/>
            <a:ext cx="3895041" cy="369332"/>
          </a:xfrm>
          <a:prstGeom prst="rect">
            <a:avLst/>
          </a:prstGeom>
          <a:noFill/>
        </p:spPr>
        <p:txBody>
          <a:bodyPr wrap="none" rtlCol="0">
            <a:spAutoFit/>
          </a:bodyPr>
          <a:lstStyle/>
          <a:p>
            <a:r>
              <a:rPr lang="en-US" dirty="0"/>
              <a:t>Fig:2 Block diagram of proposed system</a:t>
            </a:r>
          </a:p>
        </p:txBody>
      </p:sp>
      <p:sp>
        <p:nvSpPr>
          <p:cNvPr id="15" name="Rectangle 2">
            <a:extLst>
              <a:ext uri="{FF2B5EF4-FFF2-40B4-BE49-F238E27FC236}">
                <a16:creationId xmlns:a16="http://schemas.microsoft.com/office/drawing/2014/main" id="{5AB31AD5-8C88-C6AF-00A0-74FBE7137106}"/>
              </a:ext>
            </a:extLst>
          </p:cNvPr>
          <p:cNvSpPr>
            <a:spLocks noChangeArrowheads="1"/>
          </p:cNvSpPr>
          <p:nvPr/>
        </p:nvSpPr>
        <p:spPr bwMode="auto">
          <a:xfrm>
            <a:off x="505899" y="1074864"/>
            <a:ext cx="7821672" cy="4007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ROI-based learning approach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segmenting lung regions using U-Net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multi-model CNN framework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GoogLeNet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EfficientNet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Integrates segmentation and classification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a unified pipeline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explainability using Grad-CAM heatmaps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Follows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 end-to-end pipeline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clinical trust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accurate and interpretable results </a:t>
            </a:r>
          </a:p>
        </p:txBody>
      </p:sp>
    </p:spTree>
    <p:extLst>
      <p:ext uri="{BB962C8B-B14F-4D97-AF65-F5344CB8AC3E}">
        <p14:creationId xmlns:p14="http://schemas.microsoft.com/office/powerpoint/2010/main" val="1695877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91FF88-CF57-D2E2-A9E0-4450AF333DB4}"/>
              </a:ext>
            </a:extLst>
          </p:cNvPr>
          <p:cNvSpPr>
            <a:spLocks noGrp="1"/>
          </p:cNvSpPr>
          <p:nvPr>
            <p:ph type="sldNum" sz="quarter" idx="12"/>
          </p:nvPr>
        </p:nvSpPr>
        <p:spPr/>
        <p:txBody>
          <a:bodyPr/>
          <a:lstStyle/>
          <a:p>
            <a:fld id="{45761432-4179-48B3-B500-A5B0792151BD}" type="slidenum">
              <a:rPr lang="en-IN" smtClean="0"/>
              <a:t>9</a:t>
            </a:fld>
            <a:endParaRPr lang="en-IN" dirty="0"/>
          </a:p>
        </p:txBody>
      </p:sp>
      <p:sp>
        <p:nvSpPr>
          <p:cNvPr id="5" name="TextBox 4">
            <a:extLst>
              <a:ext uri="{FF2B5EF4-FFF2-40B4-BE49-F238E27FC236}">
                <a16:creationId xmlns:a16="http://schemas.microsoft.com/office/drawing/2014/main" id="{B037F92D-3FF5-D702-8C8B-B2121A0F4EE2}"/>
              </a:ext>
            </a:extLst>
          </p:cNvPr>
          <p:cNvSpPr txBox="1"/>
          <p:nvPr/>
        </p:nvSpPr>
        <p:spPr>
          <a:xfrm>
            <a:off x="817817" y="1277931"/>
            <a:ext cx="10174357" cy="3447098"/>
          </a:xfrm>
          <a:prstGeom prst="rect">
            <a:avLst/>
          </a:prstGeom>
          <a:noFill/>
        </p:spPr>
        <p:txBody>
          <a:bodyPr wrap="square">
            <a:spAutoFit/>
          </a:bodyPr>
          <a:lstStyle/>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implementation of the proposed system is performed using </a:t>
            </a:r>
            <a:r>
              <a:rPr lang="en-US" sz="2000" b="1" dirty="0">
                <a:latin typeface="Times New Roman" panose="02020603050405020304" pitchFamily="18" charset="0"/>
                <a:cs typeface="Times New Roman" panose="02020603050405020304" pitchFamily="18" charset="0"/>
              </a:rPr>
              <a:t>lung CT scan images</a:t>
            </a:r>
            <a:r>
              <a:rPr lang="en-US" sz="2000" dirty="0">
                <a:latin typeface="Times New Roman" panose="02020603050405020304" pitchFamily="18" charset="0"/>
                <a:cs typeface="Times New Roman" panose="02020603050405020304" pitchFamily="18" charset="0"/>
              </a:rPr>
              <a:t> and consists of the following steps:</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Lung CT Image Processing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Noise removal, contrast enhancement, and resizing of CT scan images </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Segmentation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U-Net model is used to detect lung nodules from CT scan images </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Classification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CNN models classify lung CT images into cancer types </a:t>
            </a: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Output Generation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Displays prediction results along with Grad-CAM heatmaps </a:t>
            </a:r>
          </a:p>
        </p:txBody>
      </p:sp>
      <p:sp>
        <p:nvSpPr>
          <p:cNvPr id="6" name="TextBox 5">
            <a:extLst>
              <a:ext uri="{FF2B5EF4-FFF2-40B4-BE49-F238E27FC236}">
                <a16:creationId xmlns:a16="http://schemas.microsoft.com/office/drawing/2014/main" id="{D84A967B-5F9D-6968-1C5A-31579A05C88C}"/>
              </a:ext>
            </a:extLst>
          </p:cNvPr>
          <p:cNvSpPr txBox="1"/>
          <p:nvPr/>
        </p:nvSpPr>
        <p:spPr>
          <a:xfrm>
            <a:off x="4296544" y="379106"/>
            <a:ext cx="519485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6. </a:t>
            </a:r>
            <a:r>
              <a:rPr lang="en-US" sz="2400" b="1" u="sng" dirty="0">
                <a:latin typeface="Times New Roman" panose="02020603050405020304" pitchFamily="18" charset="0"/>
                <a:cs typeface="Times New Roman" panose="02020603050405020304" pitchFamily="18" charset="0"/>
              </a:rPr>
              <a:t>IMPLEMENTATION</a:t>
            </a:r>
            <a:endParaRPr lang="en-IN"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334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C0DA0-3F68-1661-AA0A-B295571E1A7A}"/>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F472B4B9-A4AA-5F91-F03D-7F9FA690236C}"/>
              </a:ext>
            </a:extLst>
          </p:cNvPr>
          <p:cNvSpPr>
            <a:spLocks noGrp="1"/>
          </p:cNvSpPr>
          <p:nvPr>
            <p:ph type="sldNum" sz="quarter" idx="12"/>
          </p:nvPr>
        </p:nvSpPr>
        <p:spPr/>
        <p:txBody>
          <a:bodyPr/>
          <a:lstStyle/>
          <a:p>
            <a:fld id="{45761432-4179-48B3-B500-A5B0792151BD}" type="slidenum">
              <a:rPr lang="en-IN" smtClean="0"/>
              <a:t>10</a:t>
            </a:fld>
            <a:endParaRPr lang="en-IN"/>
          </a:p>
        </p:txBody>
      </p:sp>
      <p:sp>
        <p:nvSpPr>
          <p:cNvPr id="4" name="TextBox 3">
            <a:extLst>
              <a:ext uri="{FF2B5EF4-FFF2-40B4-BE49-F238E27FC236}">
                <a16:creationId xmlns:a16="http://schemas.microsoft.com/office/drawing/2014/main" id="{125B670D-20FC-936A-DAA1-E4A26EB142E1}"/>
              </a:ext>
            </a:extLst>
          </p:cNvPr>
          <p:cNvSpPr txBox="1"/>
          <p:nvPr/>
        </p:nvSpPr>
        <p:spPr>
          <a:xfrm>
            <a:off x="176981" y="196645"/>
            <a:ext cx="11818374" cy="6278642"/>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7. </a:t>
            </a:r>
            <a:r>
              <a:rPr lang="en-US" sz="2400" b="1" u="sng" dirty="0">
                <a:latin typeface="Times New Roman" panose="02020603050405020304" pitchFamily="18" charset="0"/>
                <a:cs typeface="Times New Roman" panose="02020603050405020304" pitchFamily="18" charset="0"/>
              </a:rPr>
              <a:t>MODEL DESCRIPTION</a:t>
            </a:r>
          </a:p>
          <a:p>
            <a:pPr algn="ctr"/>
            <a:endParaRPr lang="en-US" sz="2400" b="1" u="sng"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proposed system uses multiple deep learning models for accurate classification of lung CT scan images.</a:t>
            </a:r>
          </a:p>
          <a:p>
            <a:pPr marL="457200" indent="-457200">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GoogLeNet</a:t>
            </a:r>
            <a:r>
              <a:rPr lang="en-IN" sz="2000" b="1" dirty="0">
                <a:latin typeface="Times New Roman" panose="02020603050405020304" pitchFamily="18" charset="0"/>
                <a:cs typeface="Times New Roman" panose="02020603050405020304" pitchFamily="18" charset="0"/>
              </a:rPr>
              <a:t> (InceptionV3)</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Uses inception modules for multi-scale feature learning </a:t>
            </a:r>
            <a:endParaRPr lang="en-IN" sz="2000" b="1"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ResNet-50 &amp; ResNet-101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Deep residual networks used for feature extraction </a:t>
            </a:r>
          </a:p>
          <a:p>
            <a:pPr marL="457200" indent="-4572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EfficientNet-B0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Optimized model with high accuracy and efficiency </a:t>
            </a:r>
          </a:p>
          <a:p>
            <a:pPr marL="457200" indent="-4572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U-Net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Used for segmentation of lung nodules </a:t>
            </a:r>
          </a:p>
          <a:p>
            <a:pPr marL="457200" indent="-4572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Grad-CAM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Provides visual explanation using heatmaps</a:t>
            </a:r>
          </a:p>
          <a:p>
            <a:pPr marL="342900" indent="-342900">
              <a:buFont typeface="Wingdings" panose="05000000000000000000" pitchFamily="2" charset="2"/>
              <a:buChar char="Ø"/>
            </a:pPr>
            <a:endParaRPr lang="en-IN"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2123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405E9C3-770B-5831-5780-F5726F2E72EE}"/>
              </a:ext>
            </a:extLst>
          </p:cNvPr>
          <p:cNvSpPr>
            <a:spLocks noGrp="1"/>
          </p:cNvSpPr>
          <p:nvPr>
            <p:ph type="sldNum" sz="quarter" idx="12"/>
          </p:nvPr>
        </p:nvSpPr>
        <p:spPr/>
        <p:txBody>
          <a:bodyPr/>
          <a:lstStyle/>
          <a:p>
            <a:fld id="{45761432-4179-48B3-B500-A5B0792151BD}" type="slidenum">
              <a:rPr lang="en-IN" smtClean="0"/>
              <a:t>11</a:t>
            </a:fld>
            <a:endParaRPr lang="en-IN"/>
          </a:p>
        </p:txBody>
      </p:sp>
      <p:pic>
        <p:nvPicPr>
          <p:cNvPr id="13314" name="Picture 2" descr="Inception V3 CNN Architecture Explained . | by Anas BRITAL | Medium">
            <a:extLst>
              <a:ext uri="{FF2B5EF4-FFF2-40B4-BE49-F238E27FC236}">
                <a16:creationId xmlns:a16="http://schemas.microsoft.com/office/drawing/2014/main" id="{61F33F55-CAB3-F017-2305-945AA35316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66" t="6458" r="9958" b="7315"/>
          <a:stretch/>
        </p:blipFill>
        <p:spPr bwMode="auto">
          <a:xfrm>
            <a:off x="838200" y="810985"/>
            <a:ext cx="10515600" cy="55562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7DBE78-7431-26BC-9897-203D47F0E1A0}"/>
              </a:ext>
            </a:extLst>
          </p:cNvPr>
          <p:cNvSpPr txBox="1"/>
          <p:nvPr/>
        </p:nvSpPr>
        <p:spPr>
          <a:xfrm>
            <a:off x="1518762" y="136525"/>
            <a:ext cx="8582024"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8. </a:t>
            </a:r>
            <a:r>
              <a:rPr lang="en-US" sz="2400" b="1" u="sng" dirty="0">
                <a:latin typeface="Times New Roman" panose="02020603050405020304" pitchFamily="18" charset="0"/>
                <a:cs typeface="Times New Roman" panose="02020603050405020304" pitchFamily="18" charset="0"/>
              </a:rPr>
              <a:t>ARCHITECTURE </a:t>
            </a:r>
            <a:r>
              <a:rPr lang="en-US" sz="2400" b="1" dirty="0">
                <a:latin typeface="Times New Roman" panose="02020603050405020304" pitchFamily="18" charset="0"/>
                <a:cs typeface="Times New Roman" panose="02020603050405020304" pitchFamily="18" charset="0"/>
              </a:rPr>
              <a:t>(Best Model)</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622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A520D5-BF2C-D557-0828-5D287CED5939}"/>
              </a:ext>
            </a:extLst>
          </p:cNvPr>
          <p:cNvSpPr>
            <a:spLocks noGrp="1"/>
          </p:cNvSpPr>
          <p:nvPr>
            <p:ph type="sldNum" sz="quarter" idx="12"/>
          </p:nvPr>
        </p:nvSpPr>
        <p:spPr/>
        <p:txBody>
          <a:bodyPr/>
          <a:lstStyle/>
          <a:p>
            <a:fld id="{45761432-4179-48B3-B500-A5B0792151BD}" type="slidenum">
              <a:rPr lang="en-IN" smtClean="0"/>
              <a:t>12</a:t>
            </a:fld>
            <a:endParaRPr lang="en-IN"/>
          </a:p>
        </p:txBody>
      </p:sp>
      <p:sp>
        <p:nvSpPr>
          <p:cNvPr id="4" name="TextBox 3">
            <a:extLst>
              <a:ext uri="{FF2B5EF4-FFF2-40B4-BE49-F238E27FC236}">
                <a16:creationId xmlns:a16="http://schemas.microsoft.com/office/drawing/2014/main" id="{071465C0-8B41-3D55-F04F-DF1FEF2FCEBA}"/>
              </a:ext>
            </a:extLst>
          </p:cNvPr>
          <p:cNvSpPr txBox="1"/>
          <p:nvPr/>
        </p:nvSpPr>
        <p:spPr>
          <a:xfrm>
            <a:off x="751840" y="6082748"/>
            <a:ext cx="1094930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GOOGLENET</a:t>
            </a:r>
            <a:r>
              <a:rPr lang="en-US" sz="2400" b="1" dirty="0">
                <a:latin typeface="Times New Roman" panose="02020603050405020304" pitchFamily="18" charset="0"/>
                <a:cs typeface="Times New Roman" panose="02020603050405020304" pitchFamily="18" charset="0"/>
              </a:rPr>
              <a:t>**</a:t>
            </a:r>
            <a:endParaRPr lang="en-IN" sz="4000" b="1" dirty="0">
              <a:latin typeface="Times New Roman" panose="02020603050405020304" pitchFamily="18" charset="0"/>
              <a:cs typeface="Times New Roman" panose="02020603050405020304" pitchFamily="18" charset="0"/>
            </a:endParaRPr>
          </a:p>
        </p:txBody>
      </p:sp>
      <p:pic>
        <p:nvPicPr>
          <p:cNvPr id="5" name="image11.png">
            <a:extLst>
              <a:ext uri="{FF2B5EF4-FFF2-40B4-BE49-F238E27FC236}">
                <a16:creationId xmlns:a16="http://schemas.microsoft.com/office/drawing/2014/main" id="{AEC0982A-206B-79BB-16C7-04E7ECEE0790}"/>
              </a:ext>
            </a:extLst>
          </p:cNvPr>
          <p:cNvPicPr/>
          <p:nvPr/>
        </p:nvPicPr>
        <p:blipFill>
          <a:blip r:embed="rId2"/>
          <a:srcRect/>
          <a:stretch>
            <a:fillRect/>
          </a:stretch>
        </p:blipFill>
        <p:spPr>
          <a:xfrm>
            <a:off x="1537252" y="1139688"/>
            <a:ext cx="9117495" cy="4943060"/>
          </a:xfrm>
          <a:prstGeom prst="rect">
            <a:avLst/>
          </a:prstGeom>
          <a:ln/>
        </p:spPr>
      </p:pic>
      <p:sp>
        <p:nvSpPr>
          <p:cNvPr id="6" name="TextBox 5">
            <a:extLst>
              <a:ext uri="{FF2B5EF4-FFF2-40B4-BE49-F238E27FC236}">
                <a16:creationId xmlns:a16="http://schemas.microsoft.com/office/drawing/2014/main" id="{1604A4C3-A182-E47C-A37E-719686806F50}"/>
              </a:ext>
            </a:extLst>
          </p:cNvPr>
          <p:cNvSpPr txBox="1"/>
          <p:nvPr/>
        </p:nvSpPr>
        <p:spPr>
          <a:xfrm>
            <a:off x="4859382" y="313587"/>
            <a:ext cx="1946367"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9. </a:t>
            </a:r>
            <a:r>
              <a:rPr lang="en-US" sz="2400" b="1" u="sng" dirty="0">
                <a:latin typeface="Times New Roman" panose="02020603050405020304" pitchFamily="18" charset="0"/>
                <a:cs typeface="Times New Roman" panose="02020603050405020304" pitchFamily="18" charset="0"/>
              </a:rPr>
              <a:t>OUTPUTS</a:t>
            </a:r>
          </a:p>
        </p:txBody>
      </p:sp>
    </p:spTree>
    <p:extLst>
      <p:ext uri="{BB962C8B-B14F-4D97-AF65-F5344CB8AC3E}">
        <p14:creationId xmlns:p14="http://schemas.microsoft.com/office/powerpoint/2010/main" val="2021753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986893-3C07-26CB-2AEC-10447782CDAB}"/>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83990030-03B9-E60E-357B-04B7C1A87B00}"/>
              </a:ext>
            </a:extLst>
          </p:cNvPr>
          <p:cNvSpPr>
            <a:spLocks noGrp="1"/>
          </p:cNvSpPr>
          <p:nvPr>
            <p:ph type="sldNum" sz="quarter" idx="12"/>
          </p:nvPr>
        </p:nvSpPr>
        <p:spPr/>
        <p:txBody>
          <a:bodyPr/>
          <a:lstStyle/>
          <a:p>
            <a:fld id="{45761432-4179-48B3-B500-A5B0792151BD}" type="slidenum">
              <a:rPr lang="en-IN" smtClean="0"/>
              <a:t>13</a:t>
            </a:fld>
            <a:endParaRPr lang="en-IN"/>
          </a:p>
        </p:txBody>
      </p:sp>
      <p:sp>
        <p:nvSpPr>
          <p:cNvPr id="4" name="TextBox 3">
            <a:extLst>
              <a:ext uri="{FF2B5EF4-FFF2-40B4-BE49-F238E27FC236}">
                <a16:creationId xmlns:a16="http://schemas.microsoft.com/office/drawing/2014/main" id="{A05DF2CC-4730-F640-8A4C-2BD2F68FA8C3}"/>
              </a:ext>
            </a:extLst>
          </p:cNvPr>
          <p:cNvSpPr txBox="1"/>
          <p:nvPr/>
        </p:nvSpPr>
        <p:spPr>
          <a:xfrm>
            <a:off x="266218" y="219919"/>
            <a:ext cx="11667281"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CONFUSION MATRIX</a:t>
            </a: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ROC CURVE</a:t>
            </a:r>
            <a:endParaRPr lang="en-IN" sz="4000" b="1" u="sng" dirty="0">
              <a:latin typeface="Times New Roman" panose="02020603050405020304" pitchFamily="18" charset="0"/>
              <a:cs typeface="Times New Roman" panose="02020603050405020304" pitchFamily="18" charset="0"/>
            </a:endParaRPr>
          </a:p>
        </p:txBody>
      </p:sp>
      <p:pic>
        <p:nvPicPr>
          <p:cNvPr id="5" name="image10.png">
            <a:extLst>
              <a:ext uri="{FF2B5EF4-FFF2-40B4-BE49-F238E27FC236}">
                <a16:creationId xmlns:a16="http://schemas.microsoft.com/office/drawing/2014/main" id="{3AAB73B3-DCDE-7C9D-7781-1757DADC91D8}"/>
              </a:ext>
            </a:extLst>
          </p:cNvPr>
          <p:cNvPicPr/>
          <p:nvPr/>
        </p:nvPicPr>
        <p:blipFill>
          <a:blip r:embed="rId2"/>
          <a:srcRect/>
          <a:stretch>
            <a:fillRect/>
          </a:stretch>
        </p:blipFill>
        <p:spPr>
          <a:xfrm>
            <a:off x="428625" y="1057275"/>
            <a:ext cx="5500688" cy="4940250"/>
          </a:xfrm>
          <a:prstGeom prst="rect">
            <a:avLst/>
          </a:prstGeom>
          <a:ln/>
        </p:spPr>
      </p:pic>
      <p:pic>
        <p:nvPicPr>
          <p:cNvPr id="6" name="image12.png">
            <a:extLst>
              <a:ext uri="{FF2B5EF4-FFF2-40B4-BE49-F238E27FC236}">
                <a16:creationId xmlns:a16="http://schemas.microsoft.com/office/drawing/2014/main" id="{ECE70D57-B3D9-D217-0D08-0845AE4B6274}"/>
              </a:ext>
            </a:extLst>
          </p:cNvPr>
          <p:cNvPicPr/>
          <p:nvPr/>
        </p:nvPicPr>
        <p:blipFill>
          <a:blip r:embed="rId3"/>
          <a:srcRect/>
          <a:stretch>
            <a:fillRect/>
          </a:stretch>
        </p:blipFill>
        <p:spPr>
          <a:xfrm>
            <a:off x="6415349" y="1057275"/>
            <a:ext cx="5518150" cy="4940250"/>
          </a:xfrm>
          <a:prstGeom prst="rect">
            <a:avLst/>
          </a:prstGeom>
          <a:ln/>
        </p:spPr>
      </p:pic>
    </p:spTree>
    <p:extLst>
      <p:ext uri="{BB962C8B-B14F-4D97-AF65-F5344CB8AC3E}">
        <p14:creationId xmlns:p14="http://schemas.microsoft.com/office/powerpoint/2010/main" val="3821145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0779C0-D7BF-074E-A569-3F21130CC05F}"/>
              </a:ext>
            </a:extLst>
          </p:cNvPr>
          <p:cNvSpPr>
            <a:spLocks noGrp="1"/>
          </p:cNvSpPr>
          <p:nvPr>
            <p:ph type="sldNum" sz="quarter" idx="12"/>
          </p:nvPr>
        </p:nvSpPr>
        <p:spPr/>
        <p:txBody>
          <a:bodyPr/>
          <a:lstStyle/>
          <a:p>
            <a:fld id="{45761432-4179-48B3-B500-A5B0792151BD}" type="slidenum">
              <a:rPr lang="en-IN" smtClean="0"/>
              <a:t>14</a:t>
            </a:fld>
            <a:endParaRPr lang="en-IN"/>
          </a:p>
        </p:txBody>
      </p:sp>
      <p:sp>
        <p:nvSpPr>
          <p:cNvPr id="5" name="TextBox 4">
            <a:extLst>
              <a:ext uri="{FF2B5EF4-FFF2-40B4-BE49-F238E27FC236}">
                <a16:creationId xmlns:a16="http://schemas.microsoft.com/office/drawing/2014/main" id="{5FC673FB-887E-D473-FE8C-8F3A4CA9968E}"/>
              </a:ext>
            </a:extLst>
          </p:cNvPr>
          <p:cNvSpPr txBox="1"/>
          <p:nvPr/>
        </p:nvSpPr>
        <p:spPr>
          <a:xfrm>
            <a:off x="1277772" y="5821096"/>
            <a:ext cx="11729884"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RESNET 50</a:t>
            </a:r>
            <a:endParaRPr lang="en-IN" sz="4000" b="1" u="sng" dirty="0">
              <a:latin typeface="Times New Roman" panose="02020603050405020304" pitchFamily="18" charset="0"/>
              <a:cs typeface="Times New Roman" panose="02020603050405020304" pitchFamily="18" charset="0"/>
            </a:endParaRPr>
          </a:p>
        </p:txBody>
      </p:sp>
      <p:pic>
        <p:nvPicPr>
          <p:cNvPr id="7" name="image5.png">
            <a:extLst>
              <a:ext uri="{FF2B5EF4-FFF2-40B4-BE49-F238E27FC236}">
                <a16:creationId xmlns:a16="http://schemas.microsoft.com/office/drawing/2014/main" id="{D8C3AB70-2AC4-0DEF-1EEB-8635EC5EEBFF}"/>
              </a:ext>
            </a:extLst>
          </p:cNvPr>
          <p:cNvPicPr/>
          <p:nvPr/>
        </p:nvPicPr>
        <p:blipFill>
          <a:blip r:embed="rId2"/>
          <a:srcRect/>
          <a:stretch>
            <a:fillRect/>
          </a:stretch>
        </p:blipFill>
        <p:spPr>
          <a:xfrm>
            <a:off x="980662" y="682961"/>
            <a:ext cx="10373138" cy="5088834"/>
          </a:xfrm>
          <a:prstGeom prst="rect">
            <a:avLst/>
          </a:prstGeom>
          <a:ln/>
        </p:spPr>
      </p:pic>
    </p:spTree>
    <p:extLst>
      <p:ext uri="{BB962C8B-B14F-4D97-AF65-F5344CB8AC3E}">
        <p14:creationId xmlns:p14="http://schemas.microsoft.com/office/powerpoint/2010/main" val="215264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E2CC5E-491E-E35E-5E05-6C5D36F33F1A}"/>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83E7190A-1C48-F1CB-7A2D-39CF04271455}"/>
              </a:ext>
            </a:extLst>
          </p:cNvPr>
          <p:cNvSpPr>
            <a:spLocks noGrp="1"/>
          </p:cNvSpPr>
          <p:nvPr>
            <p:ph type="sldNum" sz="quarter" idx="12"/>
          </p:nvPr>
        </p:nvSpPr>
        <p:spPr/>
        <p:txBody>
          <a:bodyPr/>
          <a:lstStyle/>
          <a:p>
            <a:fld id="{45761432-4179-48B3-B500-A5B0792151BD}" type="slidenum">
              <a:rPr lang="en-IN" smtClean="0"/>
              <a:t>15</a:t>
            </a:fld>
            <a:endParaRPr lang="en-IN"/>
          </a:p>
        </p:txBody>
      </p:sp>
      <p:sp>
        <p:nvSpPr>
          <p:cNvPr id="4" name="TextBox 3">
            <a:extLst>
              <a:ext uri="{FF2B5EF4-FFF2-40B4-BE49-F238E27FC236}">
                <a16:creationId xmlns:a16="http://schemas.microsoft.com/office/drawing/2014/main" id="{9AC11A82-F4FB-D22F-2B96-B3E23D6371AF}"/>
              </a:ext>
            </a:extLst>
          </p:cNvPr>
          <p:cNvSpPr txBox="1"/>
          <p:nvPr/>
        </p:nvSpPr>
        <p:spPr>
          <a:xfrm>
            <a:off x="265471" y="321503"/>
            <a:ext cx="1170038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CONFUSION MATRIX</a:t>
            </a: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ROC CURVE</a:t>
            </a:r>
            <a:endParaRPr lang="en-IN" sz="2400" b="1" u="sng" dirty="0">
              <a:latin typeface="Times New Roman" panose="02020603050405020304" pitchFamily="18" charset="0"/>
              <a:cs typeface="Times New Roman" panose="02020603050405020304" pitchFamily="18" charset="0"/>
            </a:endParaRPr>
          </a:p>
        </p:txBody>
      </p:sp>
      <p:pic>
        <p:nvPicPr>
          <p:cNvPr id="5" name="image4.png">
            <a:extLst>
              <a:ext uri="{FF2B5EF4-FFF2-40B4-BE49-F238E27FC236}">
                <a16:creationId xmlns:a16="http://schemas.microsoft.com/office/drawing/2014/main" id="{5FCE870D-59C6-DFFF-50FF-07C911929B9E}"/>
              </a:ext>
            </a:extLst>
          </p:cNvPr>
          <p:cNvPicPr/>
          <p:nvPr/>
        </p:nvPicPr>
        <p:blipFill>
          <a:blip r:embed="rId2"/>
          <a:srcRect/>
          <a:stretch>
            <a:fillRect/>
          </a:stretch>
        </p:blipFill>
        <p:spPr>
          <a:xfrm>
            <a:off x="265471" y="1160022"/>
            <a:ext cx="5358130" cy="4688840"/>
          </a:xfrm>
          <a:prstGeom prst="rect">
            <a:avLst/>
          </a:prstGeom>
          <a:ln/>
        </p:spPr>
      </p:pic>
      <p:pic>
        <p:nvPicPr>
          <p:cNvPr id="6" name="image6.png">
            <a:extLst>
              <a:ext uri="{FF2B5EF4-FFF2-40B4-BE49-F238E27FC236}">
                <a16:creationId xmlns:a16="http://schemas.microsoft.com/office/drawing/2014/main" id="{EEBEF019-C329-9C41-F1A3-B93FC952C1E7}"/>
              </a:ext>
            </a:extLst>
          </p:cNvPr>
          <p:cNvPicPr/>
          <p:nvPr/>
        </p:nvPicPr>
        <p:blipFill>
          <a:blip r:embed="rId3"/>
          <a:srcRect/>
          <a:stretch>
            <a:fillRect/>
          </a:stretch>
        </p:blipFill>
        <p:spPr>
          <a:xfrm>
            <a:off x="6437548" y="1160022"/>
            <a:ext cx="5528310" cy="4698365"/>
          </a:xfrm>
          <a:prstGeom prst="rect">
            <a:avLst/>
          </a:prstGeom>
          <a:ln/>
        </p:spPr>
      </p:pic>
    </p:spTree>
    <p:extLst>
      <p:ext uri="{BB962C8B-B14F-4D97-AF65-F5344CB8AC3E}">
        <p14:creationId xmlns:p14="http://schemas.microsoft.com/office/powerpoint/2010/main" val="3825791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3F1D021-41E1-BE83-40DA-5A6F2D581E4B}"/>
              </a:ext>
            </a:extLst>
          </p:cNvPr>
          <p:cNvSpPr>
            <a:spLocks noGrp="1"/>
          </p:cNvSpPr>
          <p:nvPr>
            <p:ph type="sldNum" sz="quarter" idx="12"/>
          </p:nvPr>
        </p:nvSpPr>
        <p:spPr/>
        <p:txBody>
          <a:bodyPr/>
          <a:lstStyle/>
          <a:p>
            <a:fld id="{45761432-4179-48B3-B500-A5B0792151BD}" type="slidenum">
              <a:rPr lang="en-IN" smtClean="0"/>
              <a:t>16</a:t>
            </a:fld>
            <a:endParaRPr lang="en-IN"/>
          </a:p>
        </p:txBody>
      </p:sp>
      <p:sp>
        <p:nvSpPr>
          <p:cNvPr id="4" name="TextBox 3">
            <a:extLst>
              <a:ext uri="{FF2B5EF4-FFF2-40B4-BE49-F238E27FC236}">
                <a16:creationId xmlns:a16="http://schemas.microsoft.com/office/drawing/2014/main" id="{FDEB8A33-0026-91ED-0EBF-B2D3D6C482B8}"/>
              </a:ext>
            </a:extLst>
          </p:cNvPr>
          <p:cNvSpPr txBox="1"/>
          <p:nvPr/>
        </p:nvSpPr>
        <p:spPr>
          <a:xfrm>
            <a:off x="346750" y="5648464"/>
            <a:ext cx="1168072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RESNET 101</a:t>
            </a:r>
            <a:endParaRPr lang="en-IN" sz="4000" b="1" u="sng" dirty="0">
              <a:latin typeface="Times New Roman" panose="02020603050405020304" pitchFamily="18" charset="0"/>
              <a:cs typeface="Times New Roman" panose="02020603050405020304" pitchFamily="18" charset="0"/>
            </a:endParaRPr>
          </a:p>
        </p:txBody>
      </p:sp>
      <p:pic>
        <p:nvPicPr>
          <p:cNvPr id="5" name="image8.png">
            <a:extLst>
              <a:ext uri="{FF2B5EF4-FFF2-40B4-BE49-F238E27FC236}">
                <a16:creationId xmlns:a16="http://schemas.microsoft.com/office/drawing/2014/main" id="{FA51ECB6-5265-5734-9459-DCDF143A747E}"/>
              </a:ext>
            </a:extLst>
          </p:cNvPr>
          <p:cNvPicPr/>
          <p:nvPr/>
        </p:nvPicPr>
        <p:blipFill>
          <a:blip r:embed="rId2"/>
          <a:srcRect/>
          <a:stretch>
            <a:fillRect/>
          </a:stretch>
        </p:blipFill>
        <p:spPr>
          <a:xfrm>
            <a:off x="1078399" y="671129"/>
            <a:ext cx="10217426" cy="4757530"/>
          </a:xfrm>
          <a:prstGeom prst="rect">
            <a:avLst/>
          </a:prstGeom>
          <a:ln/>
        </p:spPr>
      </p:pic>
    </p:spTree>
    <p:extLst>
      <p:ext uri="{BB962C8B-B14F-4D97-AF65-F5344CB8AC3E}">
        <p14:creationId xmlns:p14="http://schemas.microsoft.com/office/powerpoint/2010/main" val="3598574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B715D-16DE-2318-9E7F-7C95B4FE9807}"/>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D24804F9-A97B-21BB-0B7A-23F72A70FF16}"/>
              </a:ext>
            </a:extLst>
          </p:cNvPr>
          <p:cNvSpPr>
            <a:spLocks noGrp="1"/>
          </p:cNvSpPr>
          <p:nvPr>
            <p:ph type="sldNum" sz="quarter" idx="12"/>
          </p:nvPr>
        </p:nvSpPr>
        <p:spPr/>
        <p:txBody>
          <a:bodyPr/>
          <a:lstStyle/>
          <a:p>
            <a:fld id="{45761432-4179-48B3-B500-A5B0792151BD}" type="slidenum">
              <a:rPr lang="en-IN" smtClean="0"/>
              <a:t>17</a:t>
            </a:fld>
            <a:endParaRPr lang="en-IN"/>
          </a:p>
        </p:txBody>
      </p:sp>
      <p:sp>
        <p:nvSpPr>
          <p:cNvPr id="4" name="TextBox 3">
            <a:extLst>
              <a:ext uri="{FF2B5EF4-FFF2-40B4-BE49-F238E27FC236}">
                <a16:creationId xmlns:a16="http://schemas.microsoft.com/office/drawing/2014/main" id="{0AB6EC3A-67DB-1C64-9AA0-26055FB4C6D4}"/>
              </a:ext>
            </a:extLst>
          </p:cNvPr>
          <p:cNvSpPr txBox="1"/>
          <p:nvPr/>
        </p:nvSpPr>
        <p:spPr>
          <a:xfrm>
            <a:off x="265471" y="275303"/>
            <a:ext cx="11720052"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CONFUSION MATRIX</a:t>
            </a: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ROC CURVE</a:t>
            </a:r>
            <a:endParaRPr lang="en-IN" sz="4000" b="1" u="sng" dirty="0">
              <a:latin typeface="Times New Roman" panose="02020603050405020304" pitchFamily="18" charset="0"/>
              <a:cs typeface="Times New Roman" panose="02020603050405020304" pitchFamily="18" charset="0"/>
            </a:endParaRPr>
          </a:p>
        </p:txBody>
      </p:sp>
      <p:pic>
        <p:nvPicPr>
          <p:cNvPr id="5" name="image7.png">
            <a:extLst>
              <a:ext uri="{FF2B5EF4-FFF2-40B4-BE49-F238E27FC236}">
                <a16:creationId xmlns:a16="http://schemas.microsoft.com/office/drawing/2014/main" id="{1ACF7040-BCAF-4AD8-C7B1-7EE86DA108AE}"/>
              </a:ext>
            </a:extLst>
          </p:cNvPr>
          <p:cNvPicPr/>
          <p:nvPr/>
        </p:nvPicPr>
        <p:blipFill>
          <a:blip r:embed="rId2"/>
          <a:srcRect/>
          <a:stretch>
            <a:fillRect/>
          </a:stretch>
        </p:blipFill>
        <p:spPr>
          <a:xfrm>
            <a:off x="613941" y="1118819"/>
            <a:ext cx="5241290" cy="4794885"/>
          </a:xfrm>
          <a:prstGeom prst="rect">
            <a:avLst/>
          </a:prstGeom>
          <a:ln/>
        </p:spPr>
      </p:pic>
      <p:pic>
        <p:nvPicPr>
          <p:cNvPr id="6" name="image9.png">
            <a:extLst>
              <a:ext uri="{FF2B5EF4-FFF2-40B4-BE49-F238E27FC236}">
                <a16:creationId xmlns:a16="http://schemas.microsoft.com/office/drawing/2014/main" id="{0A4B517F-A0DB-62B6-139B-F6E2A9BC3810}"/>
              </a:ext>
            </a:extLst>
          </p:cNvPr>
          <p:cNvPicPr/>
          <p:nvPr/>
        </p:nvPicPr>
        <p:blipFill>
          <a:blip r:embed="rId3"/>
          <a:srcRect/>
          <a:stretch>
            <a:fillRect/>
          </a:stretch>
        </p:blipFill>
        <p:spPr>
          <a:xfrm>
            <a:off x="6336771" y="1118820"/>
            <a:ext cx="5443855" cy="4794884"/>
          </a:xfrm>
          <a:prstGeom prst="rect">
            <a:avLst/>
          </a:prstGeom>
          <a:ln/>
        </p:spPr>
      </p:pic>
    </p:spTree>
    <p:extLst>
      <p:ext uri="{BB962C8B-B14F-4D97-AF65-F5344CB8AC3E}">
        <p14:creationId xmlns:p14="http://schemas.microsoft.com/office/powerpoint/2010/main" val="3913717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CAB0B9-572C-CEED-31C2-CB92D70264A3}"/>
              </a:ext>
            </a:extLst>
          </p:cNvPr>
          <p:cNvSpPr>
            <a:spLocks noGrp="1"/>
          </p:cNvSpPr>
          <p:nvPr>
            <p:ph type="sldNum" sz="quarter" idx="12"/>
          </p:nvPr>
        </p:nvSpPr>
        <p:spPr/>
        <p:txBody>
          <a:bodyPr/>
          <a:lstStyle/>
          <a:p>
            <a:fld id="{45761432-4179-48B3-B500-A5B0792151BD}" type="slidenum">
              <a:rPr lang="en-IN" smtClean="0"/>
              <a:t>18</a:t>
            </a:fld>
            <a:endParaRPr lang="en-IN"/>
          </a:p>
        </p:txBody>
      </p:sp>
      <p:sp>
        <p:nvSpPr>
          <p:cNvPr id="4" name="TextBox 3">
            <a:extLst>
              <a:ext uri="{FF2B5EF4-FFF2-40B4-BE49-F238E27FC236}">
                <a16:creationId xmlns:a16="http://schemas.microsoft.com/office/drawing/2014/main" id="{1C1F4ADA-325D-8A50-6C38-6FBB0DF9C835}"/>
              </a:ext>
            </a:extLst>
          </p:cNvPr>
          <p:cNvSpPr txBox="1"/>
          <p:nvPr/>
        </p:nvSpPr>
        <p:spPr>
          <a:xfrm>
            <a:off x="1309095" y="5817741"/>
            <a:ext cx="11788877" cy="1077218"/>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EFFICIENTNET B0</a:t>
            </a:r>
          </a:p>
          <a:p>
            <a:endParaRPr lang="en-IN" sz="2400" b="1" u="sng" dirty="0">
              <a:latin typeface="Times New Roman" panose="02020603050405020304" pitchFamily="18" charset="0"/>
              <a:cs typeface="Times New Roman" panose="02020603050405020304" pitchFamily="18" charset="0"/>
            </a:endParaRPr>
          </a:p>
        </p:txBody>
      </p:sp>
      <p:pic>
        <p:nvPicPr>
          <p:cNvPr id="5" name="image1.png">
            <a:extLst>
              <a:ext uri="{FF2B5EF4-FFF2-40B4-BE49-F238E27FC236}">
                <a16:creationId xmlns:a16="http://schemas.microsoft.com/office/drawing/2014/main" id="{76149B98-D605-C243-82DD-57A6F060E23B}"/>
              </a:ext>
            </a:extLst>
          </p:cNvPr>
          <p:cNvPicPr/>
          <p:nvPr/>
        </p:nvPicPr>
        <p:blipFill>
          <a:blip r:embed="rId2"/>
          <a:srcRect/>
          <a:stretch>
            <a:fillRect/>
          </a:stretch>
        </p:blipFill>
        <p:spPr>
          <a:xfrm>
            <a:off x="1477145" y="769112"/>
            <a:ext cx="9435548" cy="4875145"/>
          </a:xfrm>
          <a:prstGeom prst="rect">
            <a:avLst/>
          </a:prstGeom>
          <a:ln/>
        </p:spPr>
      </p:pic>
    </p:spTree>
    <p:extLst>
      <p:ext uri="{BB962C8B-B14F-4D97-AF65-F5344CB8AC3E}">
        <p14:creationId xmlns:p14="http://schemas.microsoft.com/office/powerpoint/2010/main" val="3006932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A4D043-3370-40F4-ACEB-F72E07D8B470}"/>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4D39B54B-A921-6A35-F025-A8F6024CBD7E}"/>
              </a:ext>
            </a:extLst>
          </p:cNvPr>
          <p:cNvSpPr>
            <a:spLocks noGrp="1"/>
          </p:cNvSpPr>
          <p:nvPr>
            <p:ph type="sldNum" sz="quarter" idx="12"/>
          </p:nvPr>
        </p:nvSpPr>
        <p:spPr/>
        <p:txBody>
          <a:bodyPr/>
          <a:lstStyle/>
          <a:p>
            <a:fld id="{45761432-4179-48B3-B500-A5B0792151BD}" type="slidenum">
              <a:rPr lang="en-IN" smtClean="0"/>
              <a:t>19</a:t>
            </a:fld>
            <a:endParaRPr lang="en-IN"/>
          </a:p>
        </p:txBody>
      </p:sp>
      <p:sp>
        <p:nvSpPr>
          <p:cNvPr id="4" name="TextBox 3">
            <a:extLst>
              <a:ext uri="{FF2B5EF4-FFF2-40B4-BE49-F238E27FC236}">
                <a16:creationId xmlns:a16="http://schemas.microsoft.com/office/drawing/2014/main" id="{205BD5FA-89EB-02F9-986B-7546343037D1}"/>
              </a:ext>
            </a:extLst>
          </p:cNvPr>
          <p:cNvSpPr txBox="1"/>
          <p:nvPr/>
        </p:nvSpPr>
        <p:spPr>
          <a:xfrm>
            <a:off x="598714" y="226142"/>
            <a:ext cx="113769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CONFUSION MATRIX</a:t>
            </a:r>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ROC CURVE</a:t>
            </a:r>
            <a:endParaRPr lang="en-IN" sz="3200" b="1" u="sng" dirty="0">
              <a:latin typeface="Times New Roman" panose="02020603050405020304" pitchFamily="18" charset="0"/>
              <a:cs typeface="Times New Roman" panose="02020603050405020304" pitchFamily="18" charset="0"/>
            </a:endParaRPr>
          </a:p>
        </p:txBody>
      </p:sp>
      <p:pic>
        <p:nvPicPr>
          <p:cNvPr id="6" name="image13.png">
            <a:extLst>
              <a:ext uri="{FF2B5EF4-FFF2-40B4-BE49-F238E27FC236}">
                <a16:creationId xmlns:a16="http://schemas.microsoft.com/office/drawing/2014/main" id="{4B3A81A1-078A-E9CA-4E7E-76669416ABA3}"/>
              </a:ext>
            </a:extLst>
          </p:cNvPr>
          <p:cNvPicPr/>
          <p:nvPr/>
        </p:nvPicPr>
        <p:blipFill>
          <a:blip r:embed="rId2"/>
          <a:srcRect/>
          <a:stretch>
            <a:fillRect/>
          </a:stretch>
        </p:blipFill>
        <p:spPr>
          <a:xfrm>
            <a:off x="308104" y="1170062"/>
            <a:ext cx="5999931" cy="4939189"/>
          </a:xfrm>
          <a:prstGeom prst="rect">
            <a:avLst/>
          </a:prstGeom>
          <a:ln/>
        </p:spPr>
      </p:pic>
      <p:pic>
        <p:nvPicPr>
          <p:cNvPr id="7" name="image2.png">
            <a:extLst>
              <a:ext uri="{FF2B5EF4-FFF2-40B4-BE49-F238E27FC236}">
                <a16:creationId xmlns:a16="http://schemas.microsoft.com/office/drawing/2014/main" id="{9190E35E-5914-E07E-9F81-618069E29773}"/>
              </a:ext>
            </a:extLst>
          </p:cNvPr>
          <p:cNvPicPr/>
          <p:nvPr/>
        </p:nvPicPr>
        <p:blipFill>
          <a:blip r:embed="rId3"/>
          <a:srcRect/>
          <a:stretch>
            <a:fillRect/>
          </a:stretch>
        </p:blipFill>
        <p:spPr>
          <a:xfrm>
            <a:off x="6595970" y="1170062"/>
            <a:ext cx="5379720" cy="4939189"/>
          </a:xfrm>
          <a:prstGeom prst="rect">
            <a:avLst/>
          </a:prstGeom>
          <a:ln/>
        </p:spPr>
      </p:pic>
    </p:spTree>
    <p:extLst>
      <p:ext uri="{BB962C8B-B14F-4D97-AF65-F5344CB8AC3E}">
        <p14:creationId xmlns:p14="http://schemas.microsoft.com/office/powerpoint/2010/main" val="2189718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250A2C-7F99-A18A-FD4E-F1DF1213467A}"/>
              </a:ext>
            </a:extLst>
          </p:cNvPr>
          <p:cNvSpPr>
            <a:spLocks noGrp="1"/>
          </p:cNvSpPr>
          <p:nvPr>
            <p:ph type="sldNum" sz="quarter" idx="12"/>
          </p:nvPr>
        </p:nvSpPr>
        <p:spPr/>
        <p:txBody>
          <a:bodyPr/>
          <a:lstStyle/>
          <a:p>
            <a:fld id="{45761432-4179-48B3-B500-A5B0792151BD}" type="slidenum">
              <a:rPr lang="en-IN" smtClean="0"/>
              <a:t>20</a:t>
            </a:fld>
            <a:endParaRPr lang="en-IN"/>
          </a:p>
        </p:txBody>
      </p:sp>
      <p:sp>
        <p:nvSpPr>
          <p:cNvPr id="4" name="TextBox 3">
            <a:extLst>
              <a:ext uri="{FF2B5EF4-FFF2-40B4-BE49-F238E27FC236}">
                <a16:creationId xmlns:a16="http://schemas.microsoft.com/office/drawing/2014/main" id="{903C5B0D-ACC4-C070-084E-78E94CD38E0D}"/>
              </a:ext>
            </a:extLst>
          </p:cNvPr>
          <p:cNvSpPr txBox="1"/>
          <p:nvPr/>
        </p:nvSpPr>
        <p:spPr>
          <a:xfrm>
            <a:off x="3581400" y="331304"/>
            <a:ext cx="6082747" cy="1077218"/>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SEGMENTATION MODEL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t>
            </a:r>
            <a:r>
              <a:rPr lang="en-US" sz="3200" b="1" u="sng" dirty="0">
                <a:latin typeface="Times New Roman" panose="02020603050405020304" pitchFamily="18" charset="0"/>
                <a:cs typeface="Times New Roman" panose="02020603050405020304" pitchFamily="18" charset="0"/>
              </a:rPr>
              <a:t>UNET</a:t>
            </a:r>
            <a:endParaRPr lang="en-IN" sz="1600" b="1" u="sng" dirty="0">
              <a:latin typeface="Times New Roman" panose="02020603050405020304" pitchFamily="18" charset="0"/>
              <a:cs typeface="Times New Roman" panose="02020603050405020304" pitchFamily="18" charset="0"/>
            </a:endParaRPr>
          </a:p>
        </p:txBody>
      </p:sp>
      <p:pic>
        <p:nvPicPr>
          <p:cNvPr id="5" name="image3.png">
            <a:extLst>
              <a:ext uri="{FF2B5EF4-FFF2-40B4-BE49-F238E27FC236}">
                <a16:creationId xmlns:a16="http://schemas.microsoft.com/office/drawing/2014/main" id="{576AE592-FDFA-E206-18EE-50078F86987A}"/>
              </a:ext>
            </a:extLst>
          </p:cNvPr>
          <p:cNvPicPr/>
          <p:nvPr/>
        </p:nvPicPr>
        <p:blipFill>
          <a:blip r:embed="rId2"/>
          <a:srcRect/>
          <a:stretch>
            <a:fillRect/>
          </a:stretch>
        </p:blipFill>
        <p:spPr>
          <a:xfrm>
            <a:off x="0" y="1683026"/>
            <a:ext cx="6215268" cy="4673324"/>
          </a:xfrm>
          <a:prstGeom prst="rect">
            <a:avLst/>
          </a:prstGeom>
          <a:ln/>
        </p:spPr>
      </p:pic>
      <p:pic>
        <p:nvPicPr>
          <p:cNvPr id="16386" name="Picture 2" descr="Lung Segmentation in CT Images: A Residual U-Net Approach on a Cross-Cohort  Dataset">
            <a:extLst>
              <a:ext uri="{FF2B5EF4-FFF2-40B4-BE49-F238E27FC236}">
                <a16:creationId xmlns:a16="http://schemas.microsoft.com/office/drawing/2014/main" id="{16DE9713-0E79-2837-5A27-FA1074FB0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7548" y="1842053"/>
            <a:ext cx="5565913" cy="4320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94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D22F31-D40C-90FD-E813-4214587D2085}"/>
              </a:ext>
            </a:extLst>
          </p:cNvPr>
          <p:cNvSpPr>
            <a:spLocks noGrp="1"/>
          </p:cNvSpPr>
          <p:nvPr>
            <p:ph type="sldNum" sz="quarter" idx="12"/>
          </p:nvPr>
        </p:nvSpPr>
        <p:spPr/>
        <p:txBody>
          <a:bodyPr/>
          <a:lstStyle/>
          <a:p>
            <a:fld id="{45761432-4179-48B3-B500-A5B0792151BD}" type="slidenum">
              <a:rPr lang="en-IN" smtClean="0"/>
              <a:t>21</a:t>
            </a:fld>
            <a:endParaRPr lang="en-IN"/>
          </a:p>
        </p:txBody>
      </p:sp>
      <p:sp>
        <p:nvSpPr>
          <p:cNvPr id="4" name="TextBox 3">
            <a:extLst>
              <a:ext uri="{FF2B5EF4-FFF2-40B4-BE49-F238E27FC236}">
                <a16:creationId xmlns:a16="http://schemas.microsoft.com/office/drawing/2014/main" id="{9972B7F2-2442-767D-AF3D-02CADFBED813}"/>
              </a:ext>
            </a:extLst>
          </p:cNvPr>
          <p:cNvSpPr txBox="1"/>
          <p:nvPr/>
        </p:nvSpPr>
        <p:spPr>
          <a:xfrm>
            <a:off x="860673" y="402419"/>
            <a:ext cx="11788878" cy="5412059"/>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10. </a:t>
            </a:r>
            <a:r>
              <a:rPr lang="en-US" sz="2400" b="1" u="sng" dirty="0">
                <a:latin typeface="Times New Roman" panose="02020603050405020304" pitchFamily="18" charset="0"/>
                <a:cs typeface="Times New Roman" panose="02020603050405020304" pitchFamily="18" charset="0"/>
              </a:rPr>
              <a:t>CONCLUSION</a:t>
            </a:r>
            <a:endParaRPr lang="en-US" sz="2800" b="1" u="sng" dirty="0">
              <a:latin typeface="Times New Roman" panose="02020603050405020304" pitchFamily="18" charset="0"/>
              <a:cs typeface="Times New Roman" panose="02020603050405020304" pitchFamily="18" charset="0"/>
            </a:endParaRPr>
          </a:p>
          <a:p>
            <a:endParaRPr lang="en-US" sz="4000" b="1" u="sng"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Successfully developed a deep learning-based system for lung cancer detection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Achieved high accuracy using multiple CNN models </a:t>
            </a:r>
          </a:p>
          <a:p>
            <a:pPr marL="457200" indent="-457200">
              <a:lnSpc>
                <a:spcPct val="150000"/>
              </a:lnSpc>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GoogLeNet</a:t>
            </a:r>
            <a:r>
              <a:rPr lang="en-US" sz="2000" dirty="0">
                <a:latin typeface="Times New Roman" panose="02020603050405020304" pitchFamily="18" charset="0"/>
                <a:cs typeface="Times New Roman" panose="02020603050405020304" pitchFamily="18" charset="0"/>
              </a:rPr>
              <a:t> provided the best performance (91.75%)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U-Net effectively segmented lung regions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Reduced human effort and improved diagnosis accuracy </a:t>
            </a:r>
          </a:p>
          <a:p>
            <a:pPr marL="457200" indent="-457200">
              <a:lnSpc>
                <a:spcPct val="150000"/>
              </a:lnSpc>
              <a:buFont typeface="Wingdings" panose="05000000000000000000" pitchFamily="2" charset="2"/>
              <a:buChar char="Ø"/>
            </a:pPr>
            <a:endParaRPr lang="en-IN" sz="32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7258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B7DB1D1-669A-5E8D-F8B8-6C08787C469F}"/>
              </a:ext>
            </a:extLst>
          </p:cNvPr>
          <p:cNvSpPr>
            <a:spLocks noGrp="1"/>
          </p:cNvSpPr>
          <p:nvPr>
            <p:ph type="sldNum" sz="quarter" idx="12"/>
          </p:nvPr>
        </p:nvSpPr>
        <p:spPr/>
        <p:txBody>
          <a:bodyPr/>
          <a:lstStyle/>
          <a:p>
            <a:fld id="{45761432-4179-48B3-B500-A5B0792151BD}" type="slidenum">
              <a:rPr lang="en-IN" smtClean="0"/>
              <a:t>22</a:t>
            </a:fld>
            <a:endParaRPr lang="en-IN"/>
          </a:p>
        </p:txBody>
      </p:sp>
      <p:sp>
        <p:nvSpPr>
          <p:cNvPr id="5" name="TextBox 4">
            <a:extLst>
              <a:ext uri="{FF2B5EF4-FFF2-40B4-BE49-F238E27FC236}">
                <a16:creationId xmlns:a16="http://schemas.microsoft.com/office/drawing/2014/main" id="{EDC869B4-D374-4BA4-1E41-E351AD365B99}"/>
              </a:ext>
            </a:extLst>
          </p:cNvPr>
          <p:cNvSpPr txBox="1"/>
          <p:nvPr/>
        </p:nvSpPr>
        <p:spPr>
          <a:xfrm>
            <a:off x="907728" y="441749"/>
            <a:ext cx="11739716" cy="4858061"/>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11. </a:t>
            </a:r>
            <a:r>
              <a:rPr lang="en-US" sz="2400" b="1" u="sng" dirty="0">
                <a:latin typeface="Times New Roman" panose="02020603050405020304" pitchFamily="18" charset="0"/>
                <a:cs typeface="Times New Roman" panose="02020603050405020304" pitchFamily="18" charset="0"/>
              </a:rPr>
              <a:t>FUTURE SCOPE</a:t>
            </a:r>
            <a:br>
              <a:rPr lang="en-US" sz="3600" b="1" u="sng" dirty="0">
                <a:latin typeface="Times New Roman" panose="02020603050405020304" pitchFamily="18" charset="0"/>
                <a:cs typeface="Times New Roman" panose="02020603050405020304" pitchFamily="18" charset="0"/>
              </a:rPr>
            </a:br>
            <a:endParaRPr lang="en-US" sz="4000" b="1" u="sng"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Can be implemented in real-time hospital systems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Can be extended to 3D CT scan analysis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 accuracy using larger datasets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Integration with cloud-based healthcare systems </a:t>
            </a:r>
          </a:p>
          <a:p>
            <a:pPr marL="457200" indent="-4572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Early-stage detection improvements </a:t>
            </a:r>
          </a:p>
          <a:p>
            <a:pPr marL="457200" indent="-457200">
              <a:lnSpc>
                <a:spcPct val="150000"/>
              </a:lnSpc>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endParaRPr lang="en-IN"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2942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A137A0-3AAC-AA72-5C22-5007DB66E862}"/>
              </a:ext>
            </a:extLst>
          </p:cNvPr>
          <p:cNvSpPr txBox="1"/>
          <p:nvPr/>
        </p:nvSpPr>
        <p:spPr>
          <a:xfrm>
            <a:off x="275303" y="285135"/>
            <a:ext cx="11621729" cy="95410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12. </a:t>
            </a:r>
            <a:r>
              <a:rPr lang="en-US" sz="2400" b="1" u="sng" dirty="0">
                <a:latin typeface="Times New Roman" panose="02020603050405020304" pitchFamily="18" charset="0"/>
                <a:cs typeface="Times New Roman" panose="02020603050405020304" pitchFamily="18" charset="0"/>
              </a:rPr>
              <a:t>WORK FLOW</a:t>
            </a:r>
            <a:endParaRPr lang="en-US" sz="4000" b="1" u="sng" dirty="0">
              <a:latin typeface="Times New Roman" panose="02020603050405020304" pitchFamily="18" charset="0"/>
              <a:cs typeface="Times New Roman" panose="02020603050405020304" pitchFamily="18" charset="0"/>
            </a:endParaRPr>
          </a:p>
          <a:p>
            <a:endParaRPr lang="en-IN" sz="3200" b="1" u="sng"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F019E64D-D7AE-FBCB-42B3-7D9DE5F09B5D}"/>
              </a:ext>
            </a:extLst>
          </p:cNvPr>
          <p:cNvSpPr/>
          <p:nvPr/>
        </p:nvSpPr>
        <p:spPr>
          <a:xfrm>
            <a:off x="577803" y="3931577"/>
            <a:ext cx="3102082" cy="178233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REVIEW - 1</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9493ACB-6B23-A72D-94E8-6488611AA392}"/>
              </a:ext>
            </a:extLst>
          </p:cNvPr>
          <p:cNvSpPr/>
          <p:nvPr/>
        </p:nvSpPr>
        <p:spPr>
          <a:xfrm>
            <a:off x="4436969" y="3964862"/>
            <a:ext cx="3169093" cy="1749049"/>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REVIEW - 2</a:t>
            </a:r>
          </a:p>
          <a:p>
            <a:pPr algn="ctr"/>
            <a:endParaRPr lang="en-IN" sz="1400" dirty="0"/>
          </a:p>
        </p:txBody>
      </p:sp>
      <p:sp>
        <p:nvSpPr>
          <p:cNvPr id="5" name="Rectangle: Rounded Corners 4">
            <a:extLst>
              <a:ext uri="{FF2B5EF4-FFF2-40B4-BE49-F238E27FC236}">
                <a16:creationId xmlns:a16="http://schemas.microsoft.com/office/drawing/2014/main" id="{2199FA55-3B08-31CB-9384-5ECD19B2B1C1}"/>
              </a:ext>
            </a:extLst>
          </p:cNvPr>
          <p:cNvSpPr/>
          <p:nvPr/>
        </p:nvSpPr>
        <p:spPr>
          <a:xfrm>
            <a:off x="8363146" y="3931577"/>
            <a:ext cx="3102082" cy="1815619"/>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REVIEW - 3</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7" name="Arrow: Right 6">
            <a:extLst>
              <a:ext uri="{FF2B5EF4-FFF2-40B4-BE49-F238E27FC236}">
                <a16:creationId xmlns:a16="http://schemas.microsoft.com/office/drawing/2014/main" id="{78A1384E-9925-5620-6118-D1DD3795529C}"/>
              </a:ext>
            </a:extLst>
          </p:cNvPr>
          <p:cNvSpPr/>
          <p:nvPr/>
        </p:nvSpPr>
        <p:spPr>
          <a:xfrm>
            <a:off x="3679885" y="4585416"/>
            <a:ext cx="757084" cy="5840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8" name="Arrow: Right 7">
            <a:extLst>
              <a:ext uri="{FF2B5EF4-FFF2-40B4-BE49-F238E27FC236}">
                <a16:creationId xmlns:a16="http://schemas.microsoft.com/office/drawing/2014/main" id="{2FB25264-C700-7B2F-8FC0-4D4A9DDF1E7A}"/>
              </a:ext>
            </a:extLst>
          </p:cNvPr>
          <p:cNvSpPr/>
          <p:nvPr/>
        </p:nvSpPr>
        <p:spPr>
          <a:xfrm>
            <a:off x="7606062" y="4585103"/>
            <a:ext cx="757084" cy="5840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10" name="Speech Bubble: Rectangle with Corners Rounded 9">
            <a:extLst>
              <a:ext uri="{FF2B5EF4-FFF2-40B4-BE49-F238E27FC236}">
                <a16:creationId xmlns:a16="http://schemas.microsoft.com/office/drawing/2014/main" id="{95265767-5FC0-4282-A40F-192D378ABFEF}"/>
              </a:ext>
            </a:extLst>
          </p:cNvPr>
          <p:cNvSpPr/>
          <p:nvPr/>
        </p:nvSpPr>
        <p:spPr>
          <a:xfrm>
            <a:off x="577803" y="2060114"/>
            <a:ext cx="3232197" cy="1691584"/>
          </a:xfrm>
          <a:prstGeom prst="wedgeRoundRectCallou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Data Set collection and Literature survey</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1" name="Speech Bubble: Rectangle with Corners Rounded 10">
            <a:extLst>
              <a:ext uri="{FF2B5EF4-FFF2-40B4-BE49-F238E27FC236}">
                <a16:creationId xmlns:a16="http://schemas.microsoft.com/office/drawing/2014/main" id="{E09A6B1E-09E7-BF62-F7EC-ED93C5C65EAD}"/>
              </a:ext>
            </a:extLst>
          </p:cNvPr>
          <p:cNvSpPr/>
          <p:nvPr/>
        </p:nvSpPr>
        <p:spPr>
          <a:xfrm>
            <a:off x="4511034" y="2082801"/>
            <a:ext cx="3095028" cy="1691584"/>
          </a:xfrm>
          <a:prstGeom prst="wedgeRoundRectCallou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Times New Roman" panose="02020603050405020304" pitchFamily="18" charset="0"/>
              <a:cs typeface="Times New Roman" panose="02020603050405020304" pitchFamily="18" charset="0"/>
            </a:endParaRPr>
          </a:p>
          <a:p>
            <a:pPr algn="ctr"/>
            <a:r>
              <a:rPr lang="en-US" sz="2000" dirty="0">
                <a:solidFill>
                  <a:schemeClr val="tx1"/>
                </a:solidFill>
                <a:latin typeface="Times New Roman" panose="02020603050405020304" pitchFamily="18" charset="0"/>
                <a:cs typeface="Times New Roman" panose="02020603050405020304" pitchFamily="18" charset="0"/>
              </a:rPr>
              <a:t>Algorithm Implementation</a:t>
            </a:r>
          </a:p>
          <a:p>
            <a:pPr algn="ctr"/>
            <a:r>
              <a:rPr lang="en-US" sz="2000" dirty="0">
                <a:solidFill>
                  <a:schemeClr val="tx1"/>
                </a:solidFill>
                <a:latin typeface="Times New Roman" panose="02020603050405020304" pitchFamily="18" charset="0"/>
                <a:cs typeface="Times New Roman" panose="02020603050405020304" pitchFamily="18" charset="0"/>
              </a:rPr>
              <a:t>Results</a:t>
            </a:r>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2" name="Speech Bubble: Rectangle with Corners Rounded 11">
            <a:extLst>
              <a:ext uri="{FF2B5EF4-FFF2-40B4-BE49-F238E27FC236}">
                <a16:creationId xmlns:a16="http://schemas.microsoft.com/office/drawing/2014/main" id="{98B59BBE-2FE4-DB55-074B-3166E73BC5B5}"/>
              </a:ext>
            </a:extLst>
          </p:cNvPr>
          <p:cNvSpPr/>
          <p:nvPr/>
        </p:nvSpPr>
        <p:spPr>
          <a:xfrm>
            <a:off x="8464746" y="2128231"/>
            <a:ext cx="2889054" cy="1603148"/>
          </a:xfrm>
          <a:prstGeom prst="wedgeRoundRectCallou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latin typeface="Times New Roman" panose="02020603050405020304" pitchFamily="18" charset="0"/>
              <a:cs typeface="Times New Roman" panose="02020603050405020304" pitchFamily="18" charset="0"/>
            </a:endParaRPr>
          </a:p>
          <a:p>
            <a:pPr algn="ctr"/>
            <a:r>
              <a:rPr lang="en-US" sz="2000" dirty="0">
                <a:solidFill>
                  <a:schemeClr val="tx1"/>
                </a:solidFill>
                <a:latin typeface="Times New Roman" panose="02020603050405020304" pitchFamily="18" charset="0"/>
                <a:cs typeface="Times New Roman" panose="02020603050405020304" pitchFamily="18" charset="0"/>
              </a:rPr>
              <a:t>Report Submission</a:t>
            </a:r>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C2863954-72D7-CF8B-A761-60899D1A71F5}"/>
              </a:ext>
            </a:extLst>
          </p:cNvPr>
          <p:cNvSpPr>
            <a:spLocks noGrp="1"/>
          </p:cNvSpPr>
          <p:nvPr>
            <p:ph type="sldNum" sz="quarter" idx="12"/>
          </p:nvPr>
        </p:nvSpPr>
        <p:spPr/>
        <p:txBody>
          <a:bodyPr/>
          <a:lstStyle/>
          <a:p>
            <a:fld id="{45761432-4179-48B3-B500-A5B0792151BD}" type="slidenum">
              <a:rPr lang="en-IN" sz="1050" smtClean="0"/>
              <a:t>23</a:t>
            </a:fld>
            <a:endParaRPr lang="en-IN" sz="1050"/>
          </a:p>
        </p:txBody>
      </p:sp>
    </p:spTree>
    <p:extLst>
      <p:ext uri="{BB962C8B-B14F-4D97-AF65-F5344CB8AC3E}">
        <p14:creationId xmlns:p14="http://schemas.microsoft.com/office/powerpoint/2010/main" val="3291079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6321BE-437A-4A4F-AE68-AEEB9C1EB607}"/>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525EC96A-4DFA-B391-EFD4-DFD735865C5D}"/>
              </a:ext>
            </a:extLst>
          </p:cNvPr>
          <p:cNvSpPr>
            <a:spLocks noGrp="1"/>
          </p:cNvSpPr>
          <p:nvPr>
            <p:ph type="sldNum" sz="quarter" idx="12"/>
          </p:nvPr>
        </p:nvSpPr>
        <p:spPr/>
        <p:txBody>
          <a:bodyPr/>
          <a:lstStyle/>
          <a:p>
            <a:fld id="{45761432-4179-48B3-B500-A5B0792151BD}" type="slidenum">
              <a:rPr lang="en-IN" smtClean="0"/>
              <a:t>24</a:t>
            </a:fld>
            <a:endParaRPr lang="en-IN"/>
          </a:p>
        </p:txBody>
      </p:sp>
      <p:sp>
        <p:nvSpPr>
          <p:cNvPr id="4" name="TextBox 3">
            <a:extLst>
              <a:ext uri="{FF2B5EF4-FFF2-40B4-BE49-F238E27FC236}">
                <a16:creationId xmlns:a16="http://schemas.microsoft.com/office/drawing/2014/main" id="{040C88E7-E8B3-F33D-0004-401AFEA5F680}"/>
              </a:ext>
            </a:extLst>
          </p:cNvPr>
          <p:cNvSpPr txBox="1"/>
          <p:nvPr/>
        </p:nvSpPr>
        <p:spPr>
          <a:xfrm>
            <a:off x="312516" y="277792"/>
            <a:ext cx="11563109" cy="7571303"/>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13. </a:t>
            </a:r>
            <a:r>
              <a:rPr lang="en-US" sz="2400" b="1" u="sng" dirty="0">
                <a:latin typeface="Times New Roman" panose="02020603050405020304" pitchFamily="18" charset="0"/>
                <a:cs typeface="Times New Roman" panose="02020603050405020304" pitchFamily="18" charset="0"/>
              </a:rPr>
              <a:t>REFERENCES</a:t>
            </a:r>
            <a:endParaRPr lang="en-US" sz="2800" b="1" u="sng" dirty="0">
              <a:latin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K. He, X. Zhang, S. Ren, and J. Sun, "Deep Residual Learning for Image Recognition," in Proceedings of the IEEE Conference on Computer Vision and Pattern Recognition (CVPR), Las Vegas, USA, pp. 770-778, 2016. DOI: 10.1109/CVPR.2016.90</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O.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Ronneberger</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P. Fischer, and T.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Brox</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"U-Net: Convolutional Networks for Biomedical Image Segmentation," in Medical Image Computing and Computer-Assisted Intervention (MICCAI), Munich, Germany, Lecture Notes in Computer Science, vol. 9351, pp. 234-241, 2015. DOI: 10.1007/978-3-319-24574-4_28</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C.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Szegedy</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V.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Vanhoucke</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S.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Ioffe</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J.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Shlens</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and Z.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Wojna</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"Rethinking the Inception Architecture for Computer Vision," in Proceedings of IEEE CVPR, Las Vegas, USA, pp. 2818-2826, 2016. DOI: 10.1109/CVPR.2016.308</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 Tan and Q. V. Le,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EfficientNet</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Rethinking Model Scaling for Convolutional Neural Networks," in Proceedings of the 36th International Conference on Machine Learning (ICML), Long Beach, USA, vol. 97, pp. 6105-6114, 2019.</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R. R.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Selvaraju</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M. Cogswell, A. Das, R.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Vedantam</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D. Parikh, and D. Batra, "Grad-CAM: Visual Explanations from Deep Networks via Gradient-based Localization," International Journal of Computer Vision, vol. 128, no. 2, pp. 336-359, 2020. DOI: 10.1007/s11263-019-01228-7</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 de Groot and R. I.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Munden</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"Lung Cancer Epidemiology, Risk Factors, and Prevention," Radiologic Clinics of North America, vol. 50, no. 5, pp. 863-876, 2012. DOI: 10.1016/j.rcl.2012.06.006</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endParaRPr lang="en-IN" dirty="0">
              <a:solidFill>
                <a:srgbClr val="0070C0"/>
              </a:solidFill>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endParaRPr lang="en-IN" sz="1800" dirty="0">
              <a:solidFill>
                <a:srgbClr val="0070C0"/>
              </a:solidFill>
              <a:latin typeface="Times New Roman" panose="02020603050405020304" pitchFamily="18" charset="0"/>
              <a:cs typeface="Times New Roman" panose="02020603050405020304" pitchFamily="18" charset="0"/>
            </a:endParaRPr>
          </a:p>
          <a:p>
            <a:endParaRPr lang="en-US"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3056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D51A65-F035-51DC-AF8B-1EFA393C4D61}"/>
              </a:ext>
            </a:extLst>
          </p:cNvPr>
          <p:cNvSpPr>
            <a:spLocks noGrp="1"/>
          </p:cNvSpPr>
          <p:nvPr>
            <p:ph type="dt" sz="half" idx="10"/>
          </p:nvPr>
        </p:nvSpPr>
        <p:spPr/>
        <p:txBody>
          <a:bodyPr/>
          <a:lstStyle/>
          <a:p>
            <a:fld id="{FF7C2BC4-0A65-42E4-958A-5B1668CD9F51}" type="datetime1">
              <a:rPr lang="en-IN" smtClean="0"/>
              <a:t>19-04-2026</a:t>
            </a:fld>
            <a:endParaRPr lang="en-IN"/>
          </a:p>
        </p:txBody>
      </p:sp>
      <p:sp>
        <p:nvSpPr>
          <p:cNvPr id="3" name="Slide Number Placeholder 2">
            <a:extLst>
              <a:ext uri="{FF2B5EF4-FFF2-40B4-BE49-F238E27FC236}">
                <a16:creationId xmlns:a16="http://schemas.microsoft.com/office/drawing/2014/main" id="{7BBB5092-E837-BA6F-B509-589DF5A1D002}"/>
              </a:ext>
            </a:extLst>
          </p:cNvPr>
          <p:cNvSpPr>
            <a:spLocks noGrp="1"/>
          </p:cNvSpPr>
          <p:nvPr>
            <p:ph type="sldNum" sz="quarter" idx="12"/>
          </p:nvPr>
        </p:nvSpPr>
        <p:spPr/>
        <p:txBody>
          <a:bodyPr/>
          <a:lstStyle/>
          <a:p>
            <a:fld id="{45761432-4179-48B3-B500-A5B0792151BD}" type="slidenum">
              <a:rPr lang="en-IN" smtClean="0"/>
              <a:t>25</a:t>
            </a:fld>
            <a:endParaRPr lang="en-IN"/>
          </a:p>
        </p:txBody>
      </p:sp>
      <p:sp>
        <p:nvSpPr>
          <p:cNvPr id="4" name="TextBox 3">
            <a:extLst>
              <a:ext uri="{FF2B5EF4-FFF2-40B4-BE49-F238E27FC236}">
                <a16:creationId xmlns:a16="http://schemas.microsoft.com/office/drawing/2014/main" id="{568C85AF-5063-71CA-5D02-E57F77E277F7}"/>
              </a:ext>
            </a:extLst>
          </p:cNvPr>
          <p:cNvSpPr txBox="1"/>
          <p:nvPr/>
        </p:nvSpPr>
        <p:spPr>
          <a:xfrm>
            <a:off x="238540" y="235974"/>
            <a:ext cx="11668326" cy="7188122"/>
          </a:xfrm>
          <a:prstGeom prst="rect">
            <a:avLst/>
          </a:prstGeom>
          <a:noFill/>
        </p:spPr>
        <p:txBody>
          <a:bodyPr wrap="square" rtlCol="0">
            <a:spAutoFit/>
          </a:bodyPr>
          <a:lstStyle/>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D. Ardila, A. P.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Kiraly</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S. Bharadwaj et al., "End-to-end Lung Cancer Screening with Deep Learning on Low-dose CT," Nature Medicine, vol. 25, pp. 954-961, 2019. DOI: 10.1038/s41591-019-0447-x</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X. Y. Jin, Y. C. Zhang, and Q. L. Jin, "Pulmonary Nodule Detection based on CT Images using Convolution Neural Network," in Proceedings of the 2016 9th International Symposium on Computational Intelligence and Design (ISCID), Hangzhou, China, vol. 1, pp. 202-204, Dec. 2016. DOI: 10.1109/ISCID.2016.1053</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J. J. Chabon, E. G. Hamilton, M. S. Kurtz et al., "Integrating Genomic Features for Non-invasive Early Lung Cancer Detection," Nature, vol. 580, no. 7802, pp. 245-251, Apr. 2020. DOI: 10.1038/s41586-020-2140-0</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 S. Ramalingam, T. K.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Owonikoko</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and F. R.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Khuri</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"Lung Cancer: New Biological Insights and Recent Therapeutic Advances," CA: A Cancer Journal for Clinicians, vol. 61, no. 2, pp. 91-112, 2011. DOI: 10.3322/caac.20102</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L. A. Torre, R. L. Siegel, and A. Jemal, "Lung Cancer Statistics," in Lung Cancer and Personalized Medicine, Advances in Experimental Medicine and Biology, vol. 893, pp. 1-19, 2016. DOI: 10.1007/978-3-319-24223-1_1</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 Mustafa, A. J. Azizi, E.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Illzam</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 </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Nazirah</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S. Sharifa, and S. Abbas, "Lung Cancer: Risk Factors, Management, and Prognosis," IOSR Journal of Dental and Medical Sciences, vol. 15, no. 10, pp. 94-101, Oct. 2016. DOI: 10.9790/0853-1510049401</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400"/>
              </a:spcAft>
              <a:buFont typeface="+mj-lt"/>
              <a:buAutoNum type="arabicPeriod"/>
            </a:pP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 S. Al-</a:t>
            </a:r>
            <a:r>
              <a:rPr lang="en-US" sz="1600" dirty="0" err="1">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Tarawneh</a:t>
            </a:r>
            <a:r>
              <a:rPr lang="en-US"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"Lung Cancer Detection using Image Processing Techniques," Leonardo Electronic Journal of Practices and Technologies, vol. 11, no. 20, pp. 147-158, 2012.</a:t>
            </a:r>
            <a:endParaRPr lang="en-IN" sz="16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7"/>
            </a:pPr>
            <a:endParaRPr lang="en-US" sz="1600" dirty="0">
              <a:solidFill>
                <a:schemeClr val="accent1"/>
              </a:solidFill>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7"/>
            </a:pPr>
            <a:endParaRPr lang="en-US" dirty="0">
              <a:solidFill>
                <a:srgbClr val="0070C0"/>
              </a:solidFill>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startAt="7"/>
            </a:pPr>
            <a:endParaRPr 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809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AB79-FEE6-E378-6AC8-7251DD4752D2}"/>
              </a:ext>
            </a:extLst>
          </p:cNvPr>
          <p:cNvSpPr txBox="1"/>
          <p:nvPr/>
        </p:nvSpPr>
        <p:spPr>
          <a:xfrm>
            <a:off x="589935" y="304800"/>
            <a:ext cx="10609007" cy="3416320"/>
          </a:xfrm>
          <a:prstGeom prst="rect">
            <a:avLst/>
          </a:prstGeom>
          <a:noFill/>
        </p:spPr>
        <p:txBody>
          <a:bodyPr wrap="square" rtlCol="0">
            <a:spAutoFit/>
          </a:bodyPr>
          <a:lstStyle/>
          <a:p>
            <a:endParaRPr lang="en-US" sz="5400" dirty="0">
              <a:latin typeface="Times New Roman" panose="02020603050405020304" pitchFamily="18" charset="0"/>
              <a:cs typeface="Times New Roman" panose="02020603050405020304" pitchFamily="18" charset="0"/>
            </a:endParaRPr>
          </a:p>
          <a:p>
            <a:endParaRPr lang="en-US" sz="5400" dirty="0">
              <a:latin typeface="Times New Roman" panose="02020603050405020304" pitchFamily="18" charset="0"/>
              <a:cs typeface="Times New Roman" panose="02020603050405020304" pitchFamily="18" charset="0"/>
            </a:endParaRPr>
          </a:p>
          <a:p>
            <a:endParaRPr lang="en-US" sz="5400" dirty="0">
              <a:latin typeface="Times New Roman" panose="02020603050405020304" pitchFamily="18" charset="0"/>
              <a:cs typeface="Times New Roman" panose="02020603050405020304" pitchFamily="18" charset="0"/>
            </a:endParaRPr>
          </a:p>
          <a:p>
            <a:r>
              <a:rPr lang="en-US" sz="5400" dirty="0">
                <a:latin typeface="Times New Roman" panose="02020603050405020304" pitchFamily="18" charset="0"/>
                <a:cs typeface="Times New Roman" panose="02020603050405020304" pitchFamily="18" charset="0"/>
              </a:rPr>
              <a:t>                  </a:t>
            </a:r>
            <a:r>
              <a:rPr lang="en-US" sz="5400" b="1" dirty="0">
                <a:latin typeface="Times New Roman" panose="02020603050405020304" pitchFamily="18" charset="0"/>
                <a:cs typeface="Times New Roman" panose="02020603050405020304" pitchFamily="18" charset="0"/>
              </a:rPr>
              <a:t>THANK YOU</a:t>
            </a:r>
            <a:endParaRPr lang="en-IN" sz="54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C2872740-860B-FCCD-8480-24499FD0A477}"/>
              </a:ext>
            </a:extLst>
          </p:cNvPr>
          <p:cNvSpPr>
            <a:spLocks noGrp="1"/>
          </p:cNvSpPr>
          <p:nvPr>
            <p:ph type="dt" sz="half" idx="10"/>
          </p:nvPr>
        </p:nvSpPr>
        <p:spPr/>
        <p:txBody>
          <a:bodyPr/>
          <a:lstStyle/>
          <a:p>
            <a:fld id="{21ADAC1F-3882-43C8-89D3-CEF03855C85E}" type="datetime1">
              <a:rPr lang="en-IN" smtClean="0"/>
              <a:t>19-04-2026</a:t>
            </a:fld>
            <a:endParaRPr lang="en-IN"/>
          </a:p>
        </p:txBody>
      </p:sp>
      <p:sp>
        <p:nvSpPr>
          <p:cNvPr id="4" name="Slide Number Placeholder 3">
            <a:extLst>
              <a:ext uri="{FF2B5EF4-FFF2-40B4-BE49-F238E27FC236}">
                <a16:creationId xmlns:a16="http://schemas.microsoft.com/office/drawing/2014/main" id="{29E6D735-3ECE-65C0-1B18-10FAE64DB68C}"/>
              </a:ext>
            </a:extLst>
          </p:cNvPr>
          <p:cNvSpPr>
            <a:spLocks noGrp="1"/>
          </p:cNvSpPr>
          <p:nvPr>
            <p:ph type="sldNum" sz="quarter" idx="12"/>
          </p:nvPr>
        </p:nvSpPr>
        <p:spPr/>
        <p:txBody>
          <a:bodyPr/>
          <a:lstStyle/>
          <a:p>
            <a:fld id="{45761432-4179-48B3-B500-A5B0792151BD}" type="slidenum">
              <a:rPr lang="en-IN" smtClean="0"/>
              <a:t>26</a:t>
            </a:fld>
            <a:endParaRPr lang="en-IN"/>
          </a:p>
        </p:txBody>
      </p:sp>
    </p:spTree>
    <p:extLst>
      <p:ext uri="{BB962C8B-B14F-4D97-AF65-F5344CB8AC3E}">
        <p14:creationId xmlns:p14="http://schemas.microsoft.com/office/powerpoint/2010/main" val="2928898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3950</TotalTime>
  <Words>1660</Words>
  <Application>Microsoft Office PowerPoint</Application>
  <PresentationFormat>Widescreen</PresentationFormat>
  <Paragraphs>263</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manikanta a</dc:creator>
  <cp:lastModifiedBy>SUDHEER KOTTAPALLI</cp:lastModifiedBy>
  <cp:revision>12</cp:revision>
  <dcterms:created xsi:type="dcterms:W3CDTF">2025-01-23T04:26:16Z</dcterms:created>
  <dcterms:modified xsi:type="dcterms:W3CDTF">2026-04-19T17:54:44Z</dcterms:modified>
</cp:coreProperties>
</file>